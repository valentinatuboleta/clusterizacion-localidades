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300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8" r:id="rId20"/>
    <p:sldId id="319" r:id="rId21"/>
    <p:sldId id="320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5656"/>
    <a:srgbClr val="A64444"/>
    <a:srgbClr val="747474"/>
    <a:srgbClr val="AEAEAE"/>
    <a:srgbClr val="000000"/>
    <a:srgbClr val="171717"/>
    <a:srgbClr val="730503"/>
    <a:srgbClr val="EB8181"/>
    <a:srgbClr val="A03836"/>
    <a:srgbClr val="8C181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C7C860-5ADA-984C-95B1-EC5540EF2561}" v="1730" dt="2025-06-03T11:13:12.824"/>
    <p1510:client id="{78150E8C-1977-8D54-46D1-76837E65EA46}" v="17" dt="2025-06-03T11:23:37.2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57"/>
    <p:restoredTop sz="94558"/>
  </p:normalViewPr>
  <p:slideViewPr>
    <p:cSldViewPr snapToGrid="0">
      <p:cViewPr varScale="1">
        <p:scale>
          <a:sx n="121" d="100"/>
          <a:sy n="121" d="100"/>
        </p:scale>
        <p:origin x="10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15FD67-EC71-47D1-90CE-86339F00FC6F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BA357-0328-47D9-8533-190B4B6F87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71165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5EBD0A-E63F-B5BE-2332-104F310CF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956251D4-31A1-ABB9-9F16-8142C4B50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1D2B31A-FB35-B52F-AF82-2A0B5D05B3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EF299D-8AB3-C0C7-5D94-C86B074E80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6BA357-0328-47D9-8533-190B4B6F8752}" type="slidenum">
              <a:rPr lang="es-CO" smtClean="0"/>
              <a:t>2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717306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07F76A-B1D3-417A-8521-2307E64CE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71F74F3-1A41-5FE7-C026-4C21A6E01D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C7EF09-EBC1-55E1-498A-5CF71E085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615336-14F5-5DC2-D65B-918FB415F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B2C69B-784F-1484-EAC5-89D3ED541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59044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D9958C-FF82-35D5-D16C-2D1670DE32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F4AC815-FF7F-7A02-11BF-C62597C35A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E493151-4DA2-7B8B-FD02-7D932EB05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A0197F-DE16-810F-91D9-6C4DFF092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C76A77-8647-AD6A-F639-E8A71410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35287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37E60-3E63-A57B-213C-C69202FCE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93DBA7-0974-0350-0D12-5FC8E83FB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176A03-CC7B-336A-7B8C-A7B56BB3F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B394BD8-9B63-A7E2-6852-4EAC03B02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8CA05F-CAA3-78F6-AAB4-91E0D1EE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1240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C4B83-28B9-19E1-AADC-53E816C06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ED168F-AB53-226B-EE1E-CF657BE96B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6CFD7F-377C-1913-A477-7C45C59B5D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B59E6CB-B419-DE97-A883-60809910B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D192D90-9D57-FE9A-7860-0E5C648BD0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BB5C3DF-DDDD-7FB3-E148-54EAE537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82398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2BD944-176A-09E4-8EB5-D5302064C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690F58-99E2-F025-FEDC-DCAA0662C5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1655F7E-F27E-D259-E532-E5D303237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D3ECA1-EF03-D77F-B325-FF5B5CDF3D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C93F854-38B7-974D-5FFC-5BC32D9FD6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BBD7746-8273-7E43-8C5A-19CD71A1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94EB7F2-CF86-3D07-978E-42BED0AF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BEF855-1CBF-7404-E409-F28E505F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3194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067F24-61D2-3D87-D57E-F7E184C68C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72E5522-0904-2830-8129-F2A22858D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89006F7-183C-9037-FE82-4513B0C41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36EC8C9-BF28-3371-B3C6-26AF2ECB4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8571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DF082E7-EFF7-965D-886D-5ECFBC524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83E3A01-1795-49DE-18C4-E46DB2CCD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280031C-A226-BB82-9F3E-00F0B6EC5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19349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67A1C8-F9C6-6943-D132-A751B1842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09649C3-39B5-740E-2928-318F7A8F8A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880B87A-52C7-D636-69C3-8F1CF5EAB2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8EE230-E45A-1686-D7E3-590160D6A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A58BA3C-2AEB-3AB5-CB2A-AC0C25C85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57D043-25F4-6482-6AD2-A1BB8E70D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4088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1E14FC-3AD3-3608-FAC3-39E54B9D5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7A3303C-9C5B-60C1-2E0C-A1BB3A698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36BC4CD-C43D-D5A6-61A6-1FBB05737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5B24AE5-DF88-43DD-6A28-9328B0641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B1A404-0E81-7EC9-7FDD-5BB82BE7D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69D8146-25B4-52B4-24A7-03E75748E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9634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1C30DF-8694-30FF-A7F3-FDD70B4A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8F7C3D2-35E8-D7B5-C92C-B2951E8AB4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F7CBAB-FF35-70A3-7C3C-B2AEF7598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064445-643D-E38B-BC7D-B9BBFD647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306E5B-1772-DAA5-17BD-3B588B837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982663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5CEEE4-3BCB-5EEF-B9D6-A7D51D4468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9C574AA-A3AC-56A6-0350-96EC3D9C7F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F1E583-436C-D418-7381-3A6FDA28E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0FB48E-AE98-97BA-A6B5-E02DD7809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4799E-7772-E626-11AC-E119E5BC0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095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7862ADA-D906-8889-78BA-70F965B6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A6FF7BA-B21A-288F-082A-F3FB0BCC2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7624A2-67F2-8817-DDE6-7833677C78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680133-938A-934C-A1C6-DE24AB09BAC8}" type="datetimeFigureOut">
              <a:rPr lang="es-CO" smtClean="0"/>
              <a:t>30/08/26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01BA2DB-DD42-A209-E402-625B6C84E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02E29D-735A-0F44-C5B6-DC44F8E1DF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D307B2-4BE2-8840-A7C4-3DE7B6DF583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83932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AEBE1D-FD1E-E453-25C4-0DDD6C5EFC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80452" y="2463625"/>
            <a:ext cx="4315548" cy="1371600"/>
          </a:xfrm>
        </p:spPr>
        <p:txBody>
          <a:bodyPr wrap="square">
            <a:normAutofit/>
          </a:bodyPr>
          <a:lstStyle/>
          <a:p>
            <a:pPr>
              <a:defRPr sz="2600" b="1">
                <a:solidFill>
                  <a:srgbClr val="0B2545"/>
                </a:solidFill>
                <a:latin typeface="Montserrat"/>
              </a:defRPr>
            </a:pPr>
            <a:r>
              <a:rPr dirty="0" err="1">
                <a:solidFill>
                  <a:schemeClr val="bg1"/>
                </a:solidFill>
              </a:rPr>
              <a:t>Analisis</a:t>
            </a:r>
            <a:r>
              <a:rPr dirty="0">
                <a:solidFill>
                  <a:schemeClr val="bg1"/>
                </a:solidFill>
              </a:rPr>
              <a:t> </a:t>
            </a:r>
            <a:r>
              <a:rPr dirty="0" err="1">
                <a:solidFill>
                  <a:schemeClr val="bg1"/>
                </a:solidFill>
              </a:rPr>
              <a:t>Exploratorio</a:t>
            </a:r>
            <a:r>
              <a:rPr dirty="0">
                <a:solidFill>
                  <a:schemeClr val="bg1"/>
                </a:solidFill>
              </a:rPr>
              <a:t> de Datos (EDA)</a:t>
            </a:r>
          </a:p>
        </p:txBody>
      </p:sp>
    </p:spTree>
    <p:extLst>
      <p:ext uri="{BB962C8B-B14F-4D97-AF65-F5344CB8AC3E}">
        <p14:creationId xmlns:p14="http://schemas.microsoft.com/office/powerpoint/2010/main" val="20830801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8D84AF-EE49-8536-394D-4712FFDE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1. CONFIGURACION Y MODULARIZACION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10625328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34074"/>
                </a:solidFill>
                <a:latin typeface="Montserrat"/>
              </a:defRPr>
            </a:pPr>
            <a:r>
              <a:t>Estructura Desacoplada del Entorno en src/ y Reproducibilidad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B2545"/>
                </a:solidFill>
                <a:latin typeface="Montserrat"/>
              </a:defRPr>
            </a:pPr>
            <a:r>
              <a:rPr dirty="0"/>
              <a:t>Modulo 1: NLP y </a:t>
            </a:r>
            <a:r>
              <a:rPr dirty="0" err="1"/>
              <a:t>Semantica</a:t>
            </a:r>
            <a:r>
              <a:rPr dirty="0"/>
              <a:t> </a:t>
            </a:r>
            <a:r>
              <a:rPr lang="es-CO" dirty="0"/>
              <a:t>(</a:t>
            </a:r>
            <a:r>
              <a:rPr lang="es-CO" dirty="0" err="1"/>
              <a:t>src</a:t>
            </a:r>
            <a:r>
              <a:rPr lang="es-CO" dirty="0"/>
              <a:t>/</a:t>
            </a:r>
            <a:r>
              <a:rPr lang="es-CO" dirty="0" err="1"/>
              <a:t>nlp_utils.py</a:t>
            </a:r>
            <a:r>
              <a:rPr lang="es-CO" dirty="0"/>
              <a:t>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rPr lang="es-CO" dirty="0"/>
              <a:t>- </a:t>
            </a:r>
            <a:r>
              <a:rPr lang="es-CO" dirty="0" err="1"/>
              <a:t>normalizar_texto</a:t>
            </a:r>
            <a:r>
              <a:rPr lang="es-CO" dirty="0"/>
              <a:t>: Limpieza </a:t>
            </a:r>
            <a:r>
              <a:rPr lang="es-CO" dirty="0" err="1"/>
              <a:t>regex</a:t>
            </a:r>
            <a:r>
              <a:rPr lang="es-CO" dirty="0"/>
              <a:t> y </a:t>
            </a:r>
            <a:r>
              <a:rPr lang="es-CO" dirty="0" err="1"/>
              <a:t>unidecode</a:t>
            </a:r>
            <a:r>
              <a:rPr lang="es-CO" dirty="0"/>
              <a:t>.</a:t>
            </a:r>
            <a:br>
              <a:rPr lang="es-CO" dirty="0"/>
            </a:br>
            <a:r>
              <a:rPr lang="es-CO" dirty="0"/>
              <a:t>- </a:t>
            </a:r>
            <a:r>
              <a:rPr lang="es-CO" dirty="0" err="1"/>
              <a:t>limpiar_ruido_marketing</a:t>
            </a:r>
            <a:r>
              <a:rPr lang="es-CO" dirty="0"/>
              <a:t>: </a:t>
            </a:r>
            <a:r>
              <a:rPr lang="es-CO" dirty="0" err="1"/>
              <a:t>Supresion</a:t>
            </a:r>
            <a:r>
              <a:rPr lang="es-CO" dirty="0"/>
              <a:t> de </a:t>
            </a:r>
            <a:r>
              <a:rPr lang="es-CO" dirty="0" err="1"/>
              <a:t>stopwords</a:t>
            </a:r>
            <a:r>
              <a:rPr lang="es-CO" dirty="0"/>
              <a:t> de gira y sponsors.</a:t>
            </a:r>
            <a:br>
              <a:rPr lang="es-CO" dirty="0"/>
            </a:br>
            <a:r>
              <a:rPr lang="es-CO" dirty="0"/>
              <a:t>- </a:t>
            </a:r>
            <a:r>
              <a:rPr lang="es-CO" dirty="0" err="1"/>
              <a:t>extraer_atributos_estructurales</a:t>
            </a:r>
            <a:r>
              <a:rPr lang="es-CO" dirty="0"/>
              <a:t>: </a:t>
            </a:r>
            <a:r>
              <a:rPr lang="es-CO" dirty="0" err="1"/>
              <a:t>Deteccion</a:t>
            </a:r>
            <a:r>
              <a:rPr lang="es-CO" dirty="0"/>
              <a:t> de 17 tags binarios.</a:t>
            </a:r>
            <a:br>
              <a:rPr lang="es-CO" dirty="0"/>
            </a:br>
            <a:r>
              <a:rPr lang="es-CO" dirty="0"/>
              <a:t>- </a:t>
            </a:r>
            <a:r>
              <a:rPr lang="es-CO" dirty="0" err="1"/>
              <a:t>vectorizar_texto_limpio</a:t>
            </a:r>
            <a:r>
              <a:rPr lang="es-CO" dirty="0"/>
              <a:t>: </a:t>
            </a:r>
            <a:r>
              <a:rPr lang="es-CO" dirty="0" err="1"/>
              <a:t>Vectorizacion</a:t>
            </a:r>
            <a:r>
              <a:rPr lang="es-CO" dirty="0"/>
              <a:t> TF-IDF compacta.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B2545"/>
                </a:solidFill>
                <a:latin typeface="Montserrat"/>
              </a:defRPr>
            </a:pPr>
            <a:r>
              <a:t>Modulo 2: Feature Engineering (src/feature_engineering.py)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- filtrar_consistencia_localidades: Remocion de cuotas en cero y precios invalidos.</a:t>
            </a:r>
            <a:br/>
            <a:r>
              <a:t>- calcular_metricas_relativas: Normalizacion por evento de precios y aforos.</a:t>
            </a:r>
            <a:br/>
            <a:r>
              <a:t>- preparar_dataset_enriquecido: Pipeline maestro.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 b="1">
                <a:solidFill>
                  <a:srgbClr val="0B2545"/>
                </a:solidFill>
                <a:latin typeface="Montserrat"/>
              </a:defRPr>
            </a:pPr>
            <a:r>
              <a:t>Modulo 3: Clustering y Evaluacion (src/clustering.py)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- construir_espacio_vectorial_mixto: RobustScaler + TF-IDF en R^37.</a:t>
            </a:r>
            <a:br/>
            <a:r>
              <a:t>- evaluar_k_optimo: Metricas de Silueta, Inercia y Davies-Bouldin.</a:t>
            </a:r>
            <a:br/>
            <a:r>
              <a:t>- entrenar_kmeans_produccion y etiquetado.</a:t>
            </a:r>
          </a:p>
        </p:txBody>
      </p:sp>
    </p:spTree>
    <p:extLst>
      <p:ext uri="{BB962C8B-B14F-4D97-AF65-F5344CB8AC3E}">
        <p14:creationId xmlns:p14="http://schemas.microsoft.com/office/powerpoint/2010/main" val="27626594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EXPLORACION INICIAL DEL DATASET RAW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rPr dirty="0"/>
              <a:t>1. </a:t>
            </a:r>
            <a:r>
              <a:rPr dirty="0" err="1"/>
              <a:t>Dimensiones</a:t>
            </a:r>
            <a:r>
              <a:rPr dirty="0"/>
              <a:t> y </a:t>
            </a:r>
            <a:r>
              <a:rPr dirty="0" err="1"/>
              <a:t>Cobertura</a:t>
            </a:r>
            <a:endParaRPr dirty="0"/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rPr dirty="0"/>
              <a:t>El dataset raw </a:t>
            </a:r>
            <a:r>
              <a:rPr dirty="0" err="1"/>
              <a:t>contiene</a:t>
            </a:r>
            <a:r>
              <a:rPr dirty="0"/>
              <a:t> 33,878 </a:t>
            </a:r>
            <a:r>
              <a:rPr dirty="0" err="1"/>
              <a:t>filas</a:t>
            </a:r>
            <a:r>
              <a:rPr dirty="0"/>
              <a:t> y 16 </a:t>
            </a:r>
            <a:r>
              <a:rPr dirty="0" err="1"/>
              <a:t>columnas</a:t>
            </a:r>
            <a:r>
              <a:rPr dirty="0"/>
              <a:t> </a:t>
            </a:r>
            <a:r>
              <a:rPr dirty="0" err="1"/>
              <a:t>analiticas</a:t>
            </a:r>
            <a:r>
              <a:rPr dirty="0"/>
              <a:t> que </a:t>
            </a:r>
            <a:r>
              <a:rPr dirty="0" err="1"/>
              <a:t>representan</a:t>
            </a:r>
            <a:r>
              <a:rPr dirty="0"/>
              <a:t> la </a:t>
            </a:r>
            <a:r>
              <a:rPr dirty="0" err="1"/>
              <a:t>totalidad</a:t>
            </a:r>
            <a:r>
              <a:rPr dirty="0"/>
              <a:t> del </a:t>
            </a:r>
            <a:r>
              <a:rPr dirty="0" err="1"/>
              <a:t>historial</a:t>
            </a:r>
            <a:r>
              <a:rPr dirty="0"/>
              <a:t> de </a:t>
            </a:r>
            <a:r>
              <a:rPr dirty="0" err="1"/>
              <a:t>boleteria</a:t>
            </a:r>
            <a:r>
              <a:rPr dirty="0"/>
              <a:t>.</a:t>
            </a:r>
            <a:br>
              <a:rPr dirty="0"/>
            </a:br>
            <a:br>
              <a:rPr dirty="0"/>
            </a:b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registro</a:t>
            </a:r>
            <a:r>
              <a:rPr dirty="0"/>
              <a:t> equivale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localidad</a:t>
            </a:r>
            <a:r>
              <a:rPr dirty="0"/>
              <a:t> unica </a:t>
            </a:r>
            <a:r>
              <a:rPr dirty="0" err="1"/>
              <a:t>asociada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funcion</a:t>
            </a:r>
            <a:r>
              <a:rPr dirty="0"/>
              <a:t> (performance) y </a:t>
            </a:r>
            <a:r>
              <a:rPr dirty="0" err="1"/>
              <a:t>evento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rPr dirty="0"/>
              <a:t>2. </a:t>
            </a:r>
            <a:r>
              <a:rPr dirty="0" err="1"/>
              <a:t>Atributos</a:t>
            </a:r>
            <a:r>
              <a:rPr dirty="0"/>
              <a:t> Clave </a:t>
            </a:r>
            <a:r>
              <a:rPr dirty="0" err="1"/>
              <a:t>Disponibles</a:t>
            </a:r>
            <a:endParaRPr dirty="0"/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rPr dirty="0"/>
              <a:t>- </a:t>
            </a:r>
            <a:r>
              <a:rPr dirty="0" err="1"/>
              <a:t>Identificadores</a:t>
            </a:r>
            <a:r>
              <a:rPr dirty="0"/>
              <a:t>: </a:t>
            </a:r>
            <a:r>
              <a:rPr dirty="0" err="1"/>
              <a:t>event_id</a:t>
            </a:r>
            <a:r>
              <a:rPr dirty="0"/>
              <a:t>, </a:t>
            </a:r>
            <a:r>
              <a:rPr dirty="0" err="1"/>
              <a:t>performance_id</a:t>
            </a:r>
            <a:r>
              <a:rPr dirty="0"/>
              <a:t>, site (venue).</a:t>
            </a:r>
            <a:br>
              <a:rPr dirty="0"/>
            </a:br>
            <a:r>
              <a:rPr dirty="0"/>
              <a:t>- </a:t>
            </a:r>
            <a:r>
              <a:rPr dirty="0" err="1"/>
              <a:t>Texto</a:t>
            </a:r>
            <a:r>
              <a:rPr dirty="0"/>
              <a:t>: </a:t>
            </a:r>
            <a:r>
              <a:rPr dirty="0" err="1"/>
              <a:t>logical_seat_category</a:t>
            </a:r>
            <a:r>
              <a:rPr dirty="0"/>
              <a:t> (</a:t>
            </a:r>
            <a:r>
              <a:rPr dirty="0" err="1"/>
              <a:t>nombre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).</a:t>
            </a:r>
            <a:br>
              <a:rPr dirty="0"/>
            </a:br>
            <a:r>
              <a:rPr dirty="0"/>
              <a:t>- </a:t>
            </a:r>
            <a:r>
              <a:rPr dirty="0" err="1"/>
              <a:t>Economicos</a:t>
            </a:r>
            <a:r>
              <a:rPr dirty="0"/>
              <a:t>: </a:t>
            </a:r>
            <a:r>
              <a:rPr dirty="0" err="1"/>
              <a:t>med_unit_amt_itx</a:t>
            </a:r>
            <a:r>
              <a:rPr dirty="0"/>
              <a:t> (</a:t>
            </a:r>
            <a:r>
              <a:rPr dirty="0" err="1"/>
              <a:t>precio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COP).</a:t>
            </a:r>
            <a:br>
              <a:rPr dirty="0"/>
            </a:br>
            <a:r>
              <a:rPr dirty="0"/>
              <a:t>- </a:t>
            </a:r>
            <a:r>
              <a:rPr dirty="0" err="1"/>
              <a:t>Fisicos</a:t>
            </a:r>
            <a:r>
              <a:rPr dirty="0"/>
              <a:t>: </a:t>
            </a:r>
            <a:r>
              <a:rPr dirty="0" err="1"/>
              <a:t>dn_quota</a:t>
            </a:r>
            <a:r>
              <a:rPr dirty="0"/>
              <a:t> (</a:t>
            </a:r>
            <a:r>
              <a:rPr dirty="0" err="1"/>
              <a:t>aforo</a:t>
            </a:r>
            <a:r>
              <a:rPr dirty="0"/>
              <a:t> de la </a:t>
            </a:r>
            <a:r>
              <a:rPr dirty="0" err="1"/>
              <a:t>localidad</a:t>
            </a:r>
            <a:r>
              <a:rPr dirty="0"/>
              <a:t>).</a:t>
            </a:r>
            <a:br>
              <a:rPr dirty="0"/>
            </a:br>
            <a:r>
              <a:rPr dirty="0"/>
              <a:t>- Ventas: </a:t>
            </a:r>
            <a:r>
              <a:rPr dirty="0" err="1"/>
              <a:t>tickets_pago</a:t>
            </a:r>
            <a:r>
              <a:rPr dirty="0"/>
              <a:t>, </a:t>
            </a:r>
            <a:r>
              <a:rPr dirty="0" err="1"/>
              <a:t>tickets_cero</a:t>
            </a:r>
            <a:r>
              <a:rPr dirty="0"/>
              <a:t>, </a:t>
            </a:r>
            <a:r>
              <a:rPr dirty="0" err="1"/>
              <a:t>tasa_ocupacion</a:t>
            </a:r>
            <a:r>
              <a:rPr dirty="0"/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3. Diagnostico de Calidad de Datos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- No hay nulos en variables economicas y de aforo.</a:t>
            </a:r>
            <a:br/>
            <a:r>
              <a:t>- Se detectan 103 filas con dn_quota = 0 o inconsistencias que deben filtrarse en el modulo de consistencia.</a:t>
            </a:r>
            <a:br/>
            <a:r>
              <a:t>- Mas de 2,400 cadenas de texto comerciales unicas.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MODULO NLP - NORMALIZACION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074"/>
                </a:solidFill>
                <a:latin typeface="Montserrat"/>
              </a:defRPr>
            </a:pPr>
            <a:r>
              <a:t>Objetivo de la Funcion normalizar_texto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Elimina las diferencias ortograficas y de formato que fragmentan artificialmente localidades equivalentes:</a:t>
            </a:r>
            <a:br/>
            <a:br/>
            <a:r>
              <a:t>1. Conversion a minusculas completas.</a:t>
            </a:r>
            <a:br/>
            <a:r>
              <a:t>2. Eliminacion de tildes y diacriticos (ej. 'Platea Mayor' -&gt; 'platea mayor').</a:t>
            </a:r>
            <a:br/>
            <a:r>
              <a:t>3. Supresion de simbolos, guiones y caracteres no alfanumericos.</a:t>
            </a:r>
            <a:br/>
            <a:r>
              <a:t>4. Normalizacion de espacios en blanco multiples.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074"/>
                </a:solidFill>
                <a:latin typeface="Montserrat"/>
              </a:defRPr>
            </a:pPr>
            <a:r>
              <a:t>Evidencia en Casos Reales del Catalogo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- 'PALCO OCCIDENTAL VIP!' -&gt; 'palco occidental vip'</a:t>
            </a:r>
            <a:br/>
            <a:r>
              <a:t>- 'Grada Oriental - 2do Piso' -&gt; 'grada oriental 2do piso'</a:t>
            </a:r>
            <a:br/>
            <a:r>
              <a:t>- 'GENERAL (Preventa #1)' -&gt; 'general preventa 1'</a:t>
            </a:r>
            <a:br/>
            <a:r>
              <a:t>- 'VIP EARLY ACCESS / BANCO' -&gt; 'vip early access banco'</a:t>
            </a:r>
            <a:br/>
            <a:br/>
            <a:r>
              <a:t>Resultado: Se consolida la coherencia semantica base previa a la limpieza profunda.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MODULO NLP - RUIDO DE MARKETING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1. Configuracion de Stopwords de Marketing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Se definieron mas de 50 stopwords publicitarias organizadas en 4 categorias:</a:t>
            </a:r>
            <a:br/>
            <a:r>
              <a:t>- Sponsors: movistar, etb, visa, mastercard, davivienda, bancolombia, aguila, pilsen.</a:t>
            </a:r>
            <a:br/>
            <a:r>
              <a:t>- Giras: cantinero, tour, world, leyenda, ferxxo, mor, bichota, corazon.</a:t>
            </a:r>
            <a:br/>
            <a:r>
              <a:t>- Canales: preventa, etapa, early, presale, fase, combo.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017520" cy="1913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rPr dirty="0"/>
              <a:t>2. </a:t>
            </a:r>
            <a:r>
              <a:rPr dirty="0" err="1"/>
              <a:t>Mecanismo</a:t>
            </a:r>
            <a:r>
              <a:rPr dirty="0"/>
              <a:t> Regex </a:t>
            </a:r>
            <a:r>
              <a:rPr dirty="0" err="1"/>
              <a:t>Limpio</a:t>
            </a:r>
            <a:endParaRPr dirty="0"/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rPr dirty="0"/>
              <a:t>La </a:t>
            </a:r>
            <a:r>
              <a:rPr dirty="0" err="1"/>
              <a:t>funcion</a:t>
            </a:r>
            <a:r>
              <a:rPr dirty="0"/>
              <a:t> </a:t>
            </a:r>
            <a:r>
              <a:rPr dirty="0" err="1"/>
              <a:t>limpiar_ruido_marketing</a:t>
            </a:r>
            <a:r>
              <a:rPr dirty="0"/>
              <a:t>(</a:t>
            </a:r>
            <a:r>
              <a:rPr dirty="0" err="1"/>
              <a:t>texto</a:t>
            </a:r>
            <a:r>
              <a:rPr dirty="0"/>
              <a:t>) </a:t>
            </a:r>
            <a:r>
              <a:rPr dirty="0" err="1"/>
              <a:t>aplica</a:t>
            </a:r>
            <a:r>
              <a:rPr dirty="0"/>
              <a:t> </a:t>
            </a:r>
            <a:r>
              <a:rPr dirty="0" err="1"/>
              <a:t>expresiones</a:t>
            </a:r>
            <a:r>
              <a:rPr dirty="0"/>
              <a:t> </a:t>
            </a:r>
            <a:r>
              <a:rPr dirty="0" err="1"/>
              <a:t>regulares</a:t>
            </a:r>
            <a:r>
              <a:rPr dirty="0"/>
              <a:t> con </a:t>
            </a:r>
            <a:r>
              <a:rPr dirty="0" err="1"/>
              <a:t>limites</a:t>
            </a:r>
            <a:r>
              <a:rPr dirty="0"/>
              <a:t> de palabra para </a:t>
            </a:r>
            <a:r>
              <a:rPr dirty="0" err="1"/>
              <a:t>suprimir</a:t>
            </a:r>
            <a:r>
              <a:rPr dirty="0"/>
              <a:t> </a:t>
            </a:r>
            <a:r>
              <a:rPr dirty="0" err="1"/>
              <a:t>terminos</a:t>
            </a:r>
            <a:r>
              <a:rPr dirty="0"/>
              <a:t> de marketing sin romper palabras </a:t>
            </a:r>
            <a:r>
              <a:rPr dirty="0" err="1"/>
              <a:t>estructurales</a:t>
            </a:r>
            <a:r>
              <a:rPr dirty="0"/>
              <a:t> </a:t>
            </a:r>
            <a:r>
              <a:rPr dirty="0" err="1"/>
              <a:t>compuestas</a:t>
            </a:r>
            <a:r>
              <a:rPr dirty="0"/>
              <a:t> (</a:t>
            </a:r>
            <a:r>
              <a:rPr dirty="0" err="1"/>
              <a:t>ej</a:t>
            </a:r>
            <a:r>
              <a:rPr dirty="0"/>
              <a:t>. '</a:t>
            </a:r>
            <a:r>
              <a:rPr dirty="0" err="1"/>
              <a:t>movistar</a:t>
            </a:r>
            <a:r>
              <a:rPr dirty="0"/>
              <a:t> </a:t>
            </a:r>
            <a:r>
              <a:rPr lang="en-US" dirty="0" err="1"/>
              <a:t>preferencial</a:t>
            </a:r>
            <a:r>
              <a:rPr dirty="0"/>
              <a:t>' </a:t>
            </a:r>
            <a:r>
              <a:rPr dirty="0" err="1"/>
              <a:t>conserva</a:t>
            </a:r>
            <a:r>
              <a:rPr dirty="0"/>
              <a:t> ‘</a:t>
            </a:r>
            <a:r>
              <a:rPr lang="en-US" dirty="0" err="1"/>
              <a:t>preferencial</a:t>
            </a:r>
            <a:r>
              <a:rPr dirty="0"/>
              <a:t>').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3. Impacto en la Homogeneizacion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Ejemplos reales transformados:</a:t>
            </a:r>
            <a:br/>
            <a:r>
              <a:t>- 'palco cantinero movistar' -&gt; 'palco'</a:t>
            </a:r>
            <a:br/>
            <a:r>
              <a:t>- 'modo leyenda vip presale' -&gt; 'vip'</a:t>
            </a:r>
            <a:br/>
            <a:r>
              <a:t>- 'etb preferencial combo 2' -&gt; 'preferencial 2'</a:t>
            </a:r>
            <a:br/>
            <a:r>
              <a:t>- 'experiencia platino aguila' -&gt; 'platino'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MODULO NLP - CASOS EXTREMOS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074"/>
                </a:solidFill>
                <a:latin typeface="Montserrat"/>
              </a:defRPr>
            </a:pPr>
            <a:r>
              <a:t>Analisis de Cadenas Vacias Post-Limpieza (0.58%)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Solo 196 registros (0.58% del catalogo) quedan vacios tras remover marketing publicitario (ej. 'Gira Nacional 2024' o 'Preventa Exclusiva').</a:t>
            </a:r>
            <a:br/>
            <a:br/>
            <a:r>
              <a:t>Estrategia de Mitigacion: El pipeline les asigna automaticamente la etiqueta semantica 'general' y delega su jerarquia a las metricas relativas de precio y aforo.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074"/>
                </a:solidFill>
                <a:latin typeface="Montserrat"/>
              </a:defRPr>
            </a:pPr>
            <a:r>
              <a:t>Preservacion de Digitos y Niveles de Fila (20.5%)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6,950 localidades (20.5% del catalogo) contienen numeros vitales para la jerarquia fisica (ej. 'piso 1', 'fila a', 'tribuna 2').</a:t>
            </a:r>
            <a:br/>
            <a:br/>
            <a:r>
              <a:t>Decision de Arquitectura: La regex conserva los digitos para no perder la diferencia critica entre 'platea 1' (frontal) y 'platea 3' (posterior).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MODULO NLP - ATRIBUTOS ESTRUCTURALES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B2545"/>
                </a:solidFill>
                <a:latin typeface="Montserrat"/>
              </a:defRPr>
            </a:pPr>
            <a:r>
              <a:rPr dirty="0"/>
              <a:t>1. </a:t>
            </a:r>
            <a:r>
              <a:rPr dirty="0" err="1"/>
              <a:t>Jerarquia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(5 Tags)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rPr dirty="0" err="1"/>
              <a:t>tag_palco</a:t>
            </a:r>
            <a:r>
              <a:rPr dirty="0"/>
              <a:t>, </a:t>
            </a:r>
            <a:r>
              <a:rPr dirty="0" err="1"/>
              <a:t>tag_vip</a:t>
            </a:r>
            <a:r>
              <a:rPr dirty="0"/>
              <a:t>, </a:t>
            </a:r>
            <a:r>
              <a:rPr dirty="0" err="1"/>
              <a:t>tag_platea</a:t>
            </a:r>
            <a:r>
              <a:rPr dirty="0"/>
              <a:t>, </a:t>
            </a:r>
            <a:r>
              <a:rPr dirty="0" err="1"/>
              <a:t>tag_preferencial</a:t>
            </a:r>
            <a:r>
              <a:rPr dirty="0"/>
              <a:t>, </a:t>
            </a:r>
            <a:r>
              <a:rPr dirty="0" err="1"/>
              <a:t>tag_general</a:t>
            </a:r>
            <a:r>
              <a:rPr dirty="0"/>
              <a:t>.</a:t>
            </a:r>
            <a:br>
              <a:rPr dirty="0"/>
            </a:br>
            <a:r>
              <a:rPr dirty="0" err="1"/>
              <a:t>Identifican</a:t>
            </a:r>
            <a:r>
              <a:rPr dirty="0"/>
              <a:t> la </a:t>
            </a:r>
            <a:r>
              <a:rPr dirty="0" err="1"/>
              <a:t>categoria</a:t>
            </a:r>
            <a:r>
              <a:rPr dirty="0"/>
              <a:t> de </a:t>
            </a:r>
            <a:r>
              <a:rPr dirty="0" err="1"/>
              <a:t>servicio</a:t>
            </a:r>
            <a:r>
              <a:rPr dirty="0"/>
              <a:t> y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estatus</a:t>
            </a:r>
            <a:r>
              <a:rPr dirty="0"/>
              <a:t> </a:t>
            </a:r>
            <a:r>
              <a:rPr dirty="0" err="1"/>
              <a:t>economico</a:t>
            </a:r>
            <a:r>
              <a:rPr dirty="0"/>
              <a:t> </a:t>
            </a:r>
            <a:r>
              <a:rPr dirty="0" err="1"/>
              <a:t>percibido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B2545"/>
                </a:solidFill>
                <a:latin typeface="Montserrat"/>
              </a:defRPr>
            </a:pPr>
            <a:r>
              <a:rPr dirty="0"/>
              <a:t>2. Nivel Vertical y </a:t>
            </a:r>
            <a:r>
              <a:rPr dirty="0" err="1"/>
              <a:t>Arquitectura</a:t>
            </a:r>
            <a:r>
              <a:rPr dirty="0"/>
              <a:t> (3 Tags)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rPr dirty="0" err="1"/>
              <a:t>tag_balcon</a:t>
            </a:r>
            <a:r>
              <a:rPr dirty="0"/>
              <a:t>, </a:t>
            </a:r>
            <a:r>
              <a:rPr dirty="0" err="1"/>
              <a:t>tag_piso_alto</a:t>
            </a:r>
            <a:r>
              <a:rPr dirty="0"/>
              <a:t>, </a:t>
            </a:r>
            <a:r>
              <a:rPr dirty="0" err="1"/>
              <a:t>tag_piso_bajo</a:t>
            </a:r>
            <a:r>
              <a:rPr dirty="0"/>
              <a:t>.</a:t>
            </a:r>
            <a:br>
              <a:rPr dirty="0"/>
            </a:br>
            <a:r>
              <a:rPr dirty="0" err="1"/>
              <a:t>Capturan</a:t>
            </a:r>
            <a:r>
              <a:rPr dirty="0"/>
              <a:t> la </a:t>
            </a:r>
            <a:r>
              <a:rPr dirty="0" err="1"/>
              <a:t>estratificacion</a:t>
            </a:r>
            <a:r>
              <a:rPr dirty="0"/>
              <a:t> vertical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teatros</a:t>
            </a:r>
            <a:r>
              <a:rPr dirty="0"/>
              <a:t> de </a:t>
            </a:r>
            <a:r>
              <a:rPr dirty="0" err="1"/>
              <a:t>varios</a:t>
            </a:r>
            <a:r>
              <a:rPr dirty="0"/>
              <a:t> </a:t>
            </a:r>
            <a:r>
              <a:rPr dirty="0" err="1"/>
              <a:t>niveles</a:t>
            </a:r>
            <a:r>
              <a:rPr dirty="0"/>
              <a:t>, </a:t>
            </a:r>
            <a:r>
              <a:rPr dirty="0" err="1"/>
              <a:t>coliseos</a:t>
            </a:r>
            <a:r>
              <a:rPr dirty="0"/>
              <a:t> y arenas.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50791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B2545"/>
                </a:solidFill>
                <a:latin typeface="Montserrat"/>
              </a:defRPr>
            </a:pPr>
            <a:r>
              <a:rPr dirty="0"/>
              <a:t>3. </a:t>
            </a:r>
            <a:r>
              <a:rPr dirty="0" err="1"/>
              <a:t>Orientacion</a:t>
            </a:r>
            <a:r>
              <a:rPr dirty="0"/>
              <a:t> </a:t>
            </a:r>
            <a:r>
              <a:rPr dirty="0" err="1"/>
              <a:t>Espacial</a:t>
            </a:r>
            <a:r>
              <a:rPr dirty="0"/>
              <a:t> (6 Tags)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rPr dirty="0" err="1"/>
              <a:t>tag_occidental</a:t>
            </a:r>
            <a:r>
              <a:rPr dirty="0"/>
              <a:t>, </a:t>
            </a:r>
            <a:r>
              <a:rPr dirty="0" err="1"/>
              <a:t>tag_oriental</a:t>
            </a:r>
            <a:r>
              <a:rPr dirty="0"/>
              <a:t>, </a:t>
            </a:r>
            <a:r>
              <a:rPr dirty="0" err="1"/>
              <a:t>tag_norte</a:t>
            </a:r>
            <a:r>
              <a:rPr dirty="0"/>
              <a:t>, </a:t>
            </a:r>
            <a:r>
              <a:rPr dirty="0" err="1"/>
              <a:t>tag_sur</a:t>
            </a:r>
            <a:r>
              <a:rPr dirty="0"/>
              <a:t>, </a:t>
            </a:r>
            <a:r>
              <a:rPr dirty="0" err="1"/>
              <a:t>tag_lateral</a:t>
            </a:r>
            <a:r>
              <a:rPr dirty="0"/>
              <a:t>, </a:t>
            </a:r>
            <a:r>
              <a:rPr dirty="0" err="1"/>
              <a:t>tag_vista_parcial</a:t>
            </a:r>
            <a:r>
              <a:rPr dirty="0"/>
              <a:t>.</a:t>
            </a:r>
            <a:br>
              <a:rPr dirty="0"/>
            </a:br>
            <a:r>
              <a:rPr dirty="0" err="1"/>
              <a:t>Ubican</a:t>
            </a:r>
            <a:r>
              <a:rPr dirty="0"/>
              <a:t> </a:t>
            </a:r>
            <a:r>
              <a:rPr dirty="0" err="1"/>
              <a:t>cardinalmente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asiento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estadios</a:t>
            </a:r>
            <a:r>
              <a:rPr dirty="0"/>
              <a:t> y </a:t>
            </a:r>
            <a:r>
              <a:rPr dirty="0" err="1"/>
              <a:t>festivales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193792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B2545"/>
                </a:solidFill>
                <a:latin typeface="Montserrat"/>
              </a:defRPr>
            </a:pPr>
            <a:r>
              <a:t>4. Restricciones de Acceso (3 Tags)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tag_familiar, tag_menores, tag_movilidad_reducida.</a:t>
            </a:r>
            <a:br/>
            <a:r>
              <a:t>Capturan politicas especiales de ingreso y normativas de accesibilidad.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DESCOMPOSICION NLP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1_tags_frecuenc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120640" cy="3698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6916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283520"/>
            <a:ext cx="4754880" cy="26571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De las 33,775 </a:t>
            </a:r>
            <a:r>
              <a:rPr dirty="0" err="1"/>
              <a:t>localidades</a:t>
            </a:r>
            <a:r>
              <a:rPr dirty="0"/>
              <a:t> </a:t>
            </a:r>
            <a:r>
              <a:rPr dirty="0" err="1"/>
              <a:t>evaluadas</a:t>
            </a:r>
            <a:r>
              <a:rPr dirty="0"/>
              <a:t>, la </a:t>
            </a:r>
            <a:r>
              <a:rPr dirty="0" err="1"/>
              <a:t>etiqueta</a:t>
            </a:r>
            <a:r>
              <a:rPr dirty="0"/>
              <a:t> mas </a:t>
            </a:r>
            <a:r>
              <a:rPr dirty="0" err="1"/>
              <a:t>frecuente</a:t>
            </a:r>
            <a:r>
              <a:rPr dirty="0"/>
              <a:t> es GENERAL con 15,383 </a:t>
            </a:r>
            <a:r>
              <a:rPr dirty="0" err="1"/>
              <a:t>apariciones</a:t>
            </a:r>
            <a:r>
              <a:rPr dirty="0"/>
              <a:t> (45.5%), </a:t>
            </a:r>
            <a:r>
              <a:rPr dirty="0" err="1"/>
              <a:t>seguida</a:t>
            </a:r>
            <a:r>
              <a:rPr dirty="0"/>
              <a:t> de </a:t>
            </a:r>
            <a:r>
              <a:rPr dirty="0" err="1"/>
              <a:t>niveles</a:t>
            </a:r>
            <a:r>
              <a:rPr dirty="0"/>
              <a:t> de </a:t>
            </a:r>
            <a:r>
              <a:rPr dirty="0" err="1"/>
              <a:t>teatro</a:t>
            </a:r>
            <a:r>
              <a:rPr dirty="0"/>
              <a:t> y </a:t>
            </a:r>
            <a:r>
              <a:rPr dirty="0" err="1"/>
              <a:t>recintos</a:t>
            </a:r>
            <a:r>
              <a:rPr dirty="0"/>
              <a:t> </a:t>
            </a:r>
            <a:r>
              <a:rPr dirty="0" err="1"/>
              <a:t>cerrados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PLATEA (4,015), PALCO (3,547), PISO_ALTO (2,933) y BALCON (2,679). En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ambito</a:t>
            </a:r>
            <a:r>
              <a:rPr dirty="0"/>
              <a:t> </a:t>
            </a:r>
            <a:r>
              <a:rPr dirty="0" err="1"/>
              <a:t>espacial</a:t>
            </a:r>
            <a:r>
              <a:rPr dirty="0"/>
              <a:t>, las </a:t>
            </a:r>
            <a:r>
              <a:rPr dirty="0" err="1"/>
              <a:t>orientaciones</a:t>
            </a:r>
            <a:r>
              <a:rPr dirty="0"/>
              <a:t> </a:t>
            </a:r>
            <a:r>
              <a:rPr dirty="0" err="1"/>
              <a:t>predominantes</a:t>
            </a:r>
            <a:r>
              <a:rPr dirty="0"/>
              <a:t> son LATERAL (1,377) y OCCIDENTAL (1,134).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1. </a:t>
            </a:r>
            <a:r>
              <a:rPr dirty="0" err="1"/>
              <a:t>Casi</a:t>
            </a:r>
            <a:r>
              <a:rPr dirty="0"/>
              <a:t> la </a:t>
            </a:r>
            <a:r>
              <a:rPr dirty="0" err="1"/>
              <a:t>mitad</a:t>
            </a:r>
            <a:r>
              <a:rPr dirty="0"/>
              <a:t> del </a:t>
            </a:r>
            <a:r>
              <a:rPr dirty="0" err="1"/>
              <a:t>inventario</a:t>
            </a:r>
            <a:r>
              <a:rPr dirty="0"/>
              <a:t> </a:t>
            </a:r>
            <a:r>
              <a:rPr dirty="0" err="1"/>
              <a:t>corresponde</a:t>
            </a:r>
            <a:r>
              <a:rPr dirty="0"/>
              <a:t> a </a:t>
            </a:r>
            <a:r>
              <a:rPr dirty="0" err="1"/>
              <a:t>admision</a:t>
            </a:r>
            <a:r>
              <a:rPr dirty="0"/>
              <a:t> general, lo que </a:t>
            </a:r>
            <a:r>
              <a:rPr dirty="0" err="1"/>
              <a:t>exige</a:t>
            </a:r>
            <a:r>
              <a:rPr dirty="0"/>
              <a:t> </a:t>
            </a:r>
            <a:r>
              <a:rPr dirty="0" err="1"/>
              <a:t>diferenciar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general de </a:t>
            </a:r>
            <a:r>
              <a:rPr dirty="0" err="1"/>
              <a:t>estadio</a:t>
            </a:r>
            <a:r>
              <a:rPr dirty="0"/>
              <a:t> </a:t>
            </a:r>
            <a:r>
              <a:rPr dirty="0" err="1"/>
              <a:t>frente</a:t>
            </a:r>
            <a:r>
              <a:rPr dirty="0"/>
              <a:t> a </a:t>
            </a:r>
            <a:r>
              <a:rPr dirty="0" err="1"/>
              <a:t>una</a:t>
            </a:r>
            <a:r>
              <a:rPr dirty="0"/>
              <a:t> de </a:t>
            </a:r>
            <a:r>
              <a:rPr dirty="0" err="1"/>
              <a:t>teatro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2. Alta </a:t>
            </a:r>
            <a:r>
              <a:rPr dirty="0" err="1"/>
              <a:t>Especializacion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Teatros</a:t>
            </a:r>
            <a:r>
              <a:rPr dirty="0"/>
              <a:t> y Arenas: Mas de 14,400 </a:t>
            </a:r>
            <a:r>
              <a:rPr dirty="0" err="1"/>
              <a:t>registros</a:t>
            </a:r>
            <a:r>
              <a:rPr dirty="0"/>
              <a:t> </a:t>
            </a:r>
            <a:r>
              <a:rPr dirty="0" err="1"/>
              <a:t>corresponden</a:t>
            </a:r>
            <a:r>
              <a:rPr dirty="0"/>
              <a:t> a </a:t>
            </a:r>
            <a:r>
              <a:rPr dirty="0" err="1"/>
              <a:t>balcones</a:t>
            </a:r>
            <a:r>
              <a:rPr dirty="0"/>
              <a:t>, </a:t>
            </a:r>
            <a:r>
              <a:rPr dirty="0" err="1"/>
              <a:t>plateas</a:t>
            </a:r>
            <a:r>
              <a:rPr dirty="0"/>
              <a:t>, </a:t>
            </a:r>
            <a:r>
              <a:rPr dirty="0" err="1"/>
              <a:t>pisos</a:t>
            </a:r>
            <a:r>
              <a:rPr dirty="0"/>
              <a:t> altos y </a:t>
            </a:r>
            <a:r>
              <a:rPr dirty="0" err="1"/>
              <a:t>palcos</a:t>
            </a:r>
            <a:r>
              <a:rPr dirty="0"/>
              <a:t> con </a:t>
            </a:r>
            <a:r>
              <a:rPr dirty="0" err="1"/>
              <a:t>distribucion</a:t>
            </a:r>
            <a:r>
              <a:rPr dirty="0"/>
              <a:t> vertical </a:t>
            </a:r>
            <a:r>
              <a:rPr dirty="0" err="1"/>
              <a:t>escalonada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3. </a:t>
            </a:r>
            <a:r>
              <a:rPr dirty="0" err="1"/>
              <a:t>Efectividad</a:t>
            </a:r>
            <a:r>
              <a:rPr dirty="0"/>
              <a:t> del Pipeline Regex/NER: La </a:t>
            </a:r>
            <a:r>
              <a:rPr dirty="0" err="1"/>
              <a:t>deteccion</a:t>
            </a:r>
            <a:r>
              <a:rPr dirty="0"/>
              <a:t> de 17 </a:t>
            </a:r>
            <a:r>
              <a:rPr dirty="0" err="1"/>
              <a:t>etiquetas</a:t>
            </a:r>
            <a:r>
              <a:rPr dirty="0"/>
              <a:t> </a:t>
            </a:r>
            <a:r>
              <a:rPr dirty="0" err="1"/>
              <a:t>permitio</a:t>
            </a:r>
            <a:r>
              <a:rPr dirty="0"/>
              <a:t> </a:t>
            </a:r>
            <a:r>
              <a:rPr dirty="0" err="1"/>
              <a:t>convertir</a:t>
            </a:r>
            <a:r>
              <a:rPr dirty="0"/>
              <a:t> </a:t>
            </a:r>
            <a:r>
              <a:rPr dirty="0" err="1"/>
              <a:t>texto</a:t>
            </a:r>
            <a:r>
              <a:rPr dirty="0"/>
              <a:t> libre </a:t>
            </a:r>
            <a:r>
              <a:rPr dirty="0" err="1"/>
              <a:t>en</a:t>
            </a:r>
            <a:r>
              <a:rPr dirty="0"/>
              <a:t> variables </a:t>
            </a:r>
            <a:r>
              <a:rPr dirty="0" err="1"/>
              <a:t>numericas</a:t>
            </a:r>
            <a:r>
              <a:rPr dirty="0"/>
              <a:t> </a:t>
            </a:r>
            <a:r>
              <a:rPr dirty="0" err="1"/>
              <a:t>estructuradas</a:t>
            </a:r>
            <a:r>
              <a:rPr dirty="0"/>
              <a:t> de </a:t>
            </a:r>
            <a:r>
              <a:rPr dirty="0" err="1"/>
              <a:t>jerarquia</a:t>
            </a:r>
            <a:r>
              <a:rPr dirty="0"/>
              <a:t>, </a:t>
            </a:r>
            <a:r>
              <a:rPr dirty="0" err="1"/>
              <a:t>orientacion</a:t>
            </a:r>
            <a:r>
              <a:rPr dirty="0"/>
              <a:t> y </a:t>
            </a:r>
            <a:r>
              <a:rPr dirty="0" err="1"/>
              <a:t>restricciones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MODULO NLP - PASO 3.4: VECTORIZACION TF-IDF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1. Configuracion del Vectorizador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Se ajusta un TfidfVectorizer(max_features=15, ngram_range=(1,2)) entrenado exclusivamente sobre la columna logical_category_clean.</a:t>
            </a:r>
            <a:br/>
            <a:br/>
            <a:r>
              <a:t>Al haber eliminado previamente el ruido publicitario, el vocabulario captura senales semanticas puras.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2. Vocabulario Compacto de 15 Tokens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Tokens aprendidos por la matriz TF-IDF:</a:t>
            </a:r>
            <a:br/>
            <a:r>
              <a:t>'alto', 'balcon', 'general', 'lateral', 'norte', 'occidental', 'oriental', 'palco', 'piso', 'piso alto', 'platea', 'preferencial', 'sur', 'vip', 'vista'.</a:t>
            </a:r>
            <a:br/>
            <a:br/>
            <a:r>
              <a:t>Representan el 99.1% de la masa semantica del catalogo.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3. Integracion en el Espacio Vectorial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Aporta 15 dimensiones continuas que complementan las 17 variables binarias, capturando intensidades de texto y combinaciones n-gramicas sin sobredimensionar la matriz final.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4. FEATURE ENGINEERING - PASO 4.1: FILTRADO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874519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074"/>
                </a:solidFill>
                <a:latin typeface="Montserrat"/>
              </a:defRPr>
            </a:pPr>
            <a:r>
              <a:t>Reglas de Filtrado Aplicadas (filtrar_consistencia_localidades)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1. Exclusion de Cuotas en Cero: Se descartan registros con dn_quota &lt;= 0 (localidades de prueba tecnica o bloqueadas administrativamente).</a:t>
            </a:r>
            <a:br/>
            <a:r>
              <a:t>2. Exclusion de Precios Invalidos: Se descartan boletas con med_unit_amt_itx &lt; 0.</a:t>
            </a:r>
            <a:br/>
            <a:r>
              <a:t>3. Eliminacion de Eventos Inconsistentes: Funciones donde la suma de aforos de localidades sea cero.</a:t>
            </a:r>
            <a:br/>
            <a:br/>
            <a:r>
              <a:t>Resultado: Se eliminan 103 registros corruptos (0.3% del dataset), consolidando un universo depurado de 33,775 localidades.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2120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46520" y="1874519"/>
            <a:ext cx="475488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134074"/>
                </a:solidFill>
                <a:latin typeface="Montserrat"/>
              </a:defRPr>
            </a:pPr>
            <a:r>
              <a:t>Impacto en la Estabilidad de Ratios</a:t>
            </a:r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t>- Garantiza que el denominador en peso_aforo (performance_quota) nunca genere divisiones por cero o infinitos.</a:t>
            </a:r>
            <a:br/>
            <a:r>
              <a:t>- Permite calcular percentiles de precio y ratios relativos exactos y reproducibles en produccion.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FEATURE ENGINEERING - METRICAS RELATIVAS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64792"/>
            <a:ext cx="1033272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B2545"/>
                </a:solidFill>
                <a:latin typeface="Montserrat"/>
              </a:defRPr>
            </a:pPr>
            <a:r>
              <a:rPr dirty="0" err="1"/>
              <a:t>ratio_precio_max</a:t>
            </a:r>
            <a:endParaRPr lang="es-CO" dirty="0"/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rPr lang="es-CO" dirty="0"/>
              <a:t>P / </a:t>
            </a:r>
            <a:r>
              <a:rPr lang="es-CO" dirty="0" err="1"/>
              <a:t>max</a:t>
            </a:r>
            <a:r>
              <a:rPr lang="es-CO" dirty="0"/>
              <a:t>(</a:t>
            </a:r>
            <a:r>
              <a:rPr lang="es-CO" dirty="0" err="1"/>
              <a:t>P_evento</a:t>
            </a:r>
            <a:r>
              <a:rPr lang="es-CO" dirty="0"/>
              <a:t>)</a:t>
            </a:r>
            <a:br>
              <a:rPr lang="es-CO" dirty="0"/>
            </a:br>
            <a:r>
              <a:rPr lang="es-CO" dirty="0"/>
              <a:t>Mide que porcentaje representa el precio de la localidad frente a la localidad mas cara de esa misma </a:t>
            </a:r>
            <a:r>
              <a:rPr lang="es-CO" dirty="0" err="1"/>
              <a:t>funcion</a:t>
            </a:r>
            <a:r>
              <a:rPr lang="es-CO" dirty="0"/>
              <a:t>. Rango [0.0, 1.0].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907792"/>
            <a:ext cx="1033272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B2545"/>
                </a:solidFill>
                <a:latin typeface="Montserrat"/>
              </a:defRPr>
            </a:pPr>
            <a:r>
              <a:rPr dirty="0" err="1"/>
              <a:t>percentil_precio_evento</a:t>
            </a:r>
            <a:endParaRPr lang="en-US" dirty="0"/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rPr dirty="0"/>
              <a:t>rank(</a:t>
            </a:r>
            <a:r>
              <a:rPr dirty="0" err="1"/>
              <a:t>P_evento</a:t>
            </a:r>
            <a:r>
              <a:rPr dirty="0"/>
              <a:t>) / </a:t>
            </a:r>
            <a:r>
              <a:rPr dirty="0" err="1"/>
              <a:t>K_localidades</a:t>
            </a:r>
            <a:br>
              <a:rPr dirty="0"/>
            </a:br>
            <a:r>
              <a:rPr dirty="0" err="1"/>
              <a:t>Mide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escalon</a:t>
            </a:r>
            <a:r>
              <a:rPr dirty="0"/>
              <a:t> </a:t>
            </a:r>
            <a:r>
              <a:rPr dirty="0" err="1"/>
              <a:t>jerarquico</a:t>
            </a:r>
            <a:r>
              <a:rPr dirty="0"/>
              <a:t> de la </a:t>
            </a:r>
            <a:r>
              <a:rPr dirty="0" err="1"/>
              <a:t>boleta</a:t>
            </a:r>
            <a:r>
              <a:rPr dirty="0"/>
              <a:t> </a:t>
            </a:r>
            <a:r>
              <a:rPr dirty="0" err="1"/>
              <a:t>dentro</a:t>
            </a:r>
            <a:r>
              <a:rPr dirty="0"/>
              <a:t> del show, </a:t>
            </a:r>
            <a:r>
              <a:rPr dirty="0" err="1"/>
              <a:t>independiente</a:t>
            </a:r>
            <a:r>
              <a:rPr dirty="0"/>
              <a:t> de </a:t>
            </a:r>
            <a:r>
              <a:rPr dirty="0" err="1"/>
              <a:t>si</a:t>
            </a:r>
            <a:r>
              <a:rPr dirty="0"/>
              <a:t> la </a:t>
            </a:r>
            <a:r>
              <a:rPr dirty="0" err="1"/>
              <a:t>brecha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dinero es de $10k o $1M COP.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050791"/>
            <a:ext cx="1033272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B2545"/>
                </a:solidFill>
                <a:latin typeface="Montserrat"/>
              </a:defRPr>
            </a:pPr>
            <a:r>
              <a:rPr dirty="0" err="1"/>
              <a:t>peso_aforo</a:t>
            </a:r>
            <a:endParaRPr lang="es-CO" dirty="0"/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rPr lang="es-CO" dirty="0" err="1"/>
              <a:t>dn_quota</a:t>
            </a:r>
            <a:r>
              <a:rPr lang="es-CO" dirty="0"/>
              <a:t> / </a:t>
            </a:r>
            <a:r>
              <a:rPr lang="es-CO" dirty="0" err="1"/>
              <a:t>performance_quota</a:t>
            </a:r>
            <a:br>
              <a:rPr lang="es-CO" dirty="0"/>
            </a:br>
            <a:r>
              <a:rPr lang="es-CO" dirty="0"/>
              <a:t>Captura la </a:t>
            </a:r>
            <a:r>
              <a:rPr lang="es-CO" dirty="0" err="1"/>
              <a:t>fraccion</a:t>
            </a:r>
            <a:r>
              <a:rPr lang="es-CO" dirty="0"/>
              <a:t> </a:t>
            </a:r>
            <a:r>
              <a:rPr lang="es-CO" dirty="0" err="1"/>
              <a:t>fisica</a:t>
            </a:r>
            <a:r>
              <a:rPr lang="es-CO" dirty="0"/>
              <a:t> del recinto que ocupa la localidad (ej. Palco 5% vs Grada 40%).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120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5193792"/>
            <a:ext cx="10332720" cy="679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50" b="1">
                <a:solidFill>
                  <a:srgbClr val="0B2545"/>
                </a:solidFill>
                <a:latin typeface="Montserrat"/>
              </a:defRPr>
            </a:pPr>
            <a:r>
              <a:rPr dirty="0" err="1"/>
              <a:t>tasa_ocupacion</a:t>
            </a:r>
            <a:endParaRPr lang="es-CO" dirty="0"/>
          </a:p>
          <a:p>
            <a:pPr>
              <a:defRPr sz="1150">
                <a:solidFill>
                  <a:srgbClr val="212529"/>
                </a:solidFill>
                <a:latin typeface="Montserrat"/>
              </a:defRPr>
            </a:pPr>
            <a:r>
              <a:rPr lang="es-CO" dirty="0" err="1"/>
              <a:t>tickets_vendidos</a:t>
            </a:r>
            <a:r>
              <a:rPr lang="es-CO" dirty="0"/>
              <a:t> / </a:t>
            </a:r>
            <a:r>
              <a:rPr lang="es-CO" dirty="0" err="1"/>
              <a:t>dn_quota</a:t>
            </a:r>
            <a:br>
              <a:rPr lang="es-CO" dirty="0"/>
            </a:br>
            <a:r>
              <a:rPr lang="es-CO" dirty="0"/>
              <a:t>Miden la velocidad de </a:t>
            </a:r>
            <a:r>
              <a:rPr lang="es-CO" dirty="0" err="1"/>
              <a:t>absorcion</a:t>
            </a:r>
            <a:r>
              <a:rPr lang="es-CO" dirty="0"/>
              <a:t> y demanda por localidad.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ANALISIS DE DISTRIBUCIONES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_distribu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12064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6916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536334"/>
            <a:ext cx="4754880" cy="233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El </a:t>
            </a:r>
            <a:r>
              <a:rPr dirty="0" err="1"/>
              <a:t>ratio_precio_max</a:t>
            </a:r>
            <a:r>
              <a:rPr dirty="0"/>
              <a:t> </a:t>
            </a:r>
            <a:r>
              <a:rPr dirty="0" err="1"/>
              <a:t>presenta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concentracion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1.0 (</a:t>
            </a:r>
            <a:r>
              <a:rPr dirty="0" err="1"/>
              <a:t>mediana</a:t>
            </a:r>
            <a:r>
              <a:rPr dirty="0"/>
              <a:t> = 1.0, media = 0.803). El </a:t>
            </a:r>
            <a:r>
              <a:rPr dirty="0" err="1"/>
              <a:t>peso_aforo</a:t>
            </a:r>
            <a:r>
              <a:rPr dirty="0"/>
              <a:t> </a:t>
            </a:r>
            <a:r>
              <a:rPr dirty="0" err="1"/>
              <a:t>muestra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 </a:t>
            </a:r>
            <a:r>
              <a:rPr dirty="0" err="1"/>
              <a:t>bimodalidad</a:t>
            </a:r>
            <a:r>
              <a:rPr dirty="0"/>
              <a:t>: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concentracion</a:t>
            </a:r>
            <a:r>
              <a:rPr dirty="0"/>
              <a:t> de zonas </a:t>
            </a:r>
            <a:r>
              <a:rPr dirty="0" err="1"/>
              <a:t>exclusivas</a:t>
            </a:r>
            <a:r>
              <a:rPr dirty="0"/>
              <a:t> de </a:t>
            </a:r>
            <a:r>
              <a:rPr dirty="0" err="1"/>
              <a:t>aforo</a:t>
            </a:r>
            <a:r>
              <a:rPr dirty="0"/>
              <a:t> </a:t>
            </a:r>
            <a:r>
              <a:rPr dirty="0" err="1"/>
              <a:t>reducido</a:t>
            </a:r>
            <a:r>
              <a:rPr dirty="0"/>
              <a:t> (</a:t>
            </a:r>
            <a:r>
              <a:rPr dirty="0" err="1"/>
              <a:t>percentil</a:t>
            </a:r>
            <a:r>
              <a:rPr dirty="0"/>
              <a:t> 25 = 0.049, </a:t>
            </a:r>
            <a:r>
              <a:rPr dirty="0" err="1"/>
              <a:t>menos</a:t>
            </a:r>
            <a:r>
              <a:rPr dirty="0"/>
              <a:t> del 5% del venue) </a:t>
            </a:r>
            <a:r>
              <a:rPr dirty="0" err="1"/>
              <a:t>frente</a:t>
            </a:r>
            <a:r>
              <a:rPr dirty="0"/>
              <a:t> a </a:t>
            </a:r>
            <a:r>
              <a:rPr dirty="0" err="1"/>
              <a:t>eventos</a:t>
            </a:r>
            <a:r>
              <a:rPr dirty="0"/>
              <a:t> de </a:t>
            </a:r>
            <a:r>
              <a:rPr dirty="0" err="1"/>
              <a:t>admision</a:t>
            </a:r>
            <a:r>
              <a:rPr dirty="0"/>
              <a:t> unica. La </a:t>
            </a:r>
            <a:r>
              <a:rPr dirty="0" err="1"/>
              <a:t>tasa_ocupacion</a:t>
            </a:r>
            <a:r>
              <a:rPr dirty="0"/>
              <a:t> media es de 18.1%.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1. La </a:t>
            </a:r>
            <a:r>
              <a:rPr dirty="0" err="1"/>
              <a:t>escala</a:t>
            </a:r>
            <a:r>
              <a:rPr dirty="0"/>
              <a:t> 0.0 a 1.0 </a:t>
            </a:r>
            <a:r>
              <a:rPr dirty="0" err="1"/>
              <a:t>permite</a:t>
            </a:r>
            <a:r>
              <a:rPr dirty="0"/>
              <a:t> </a:t>
            </a:r>
            <a:r>
              <a:rPr dirty="0" err="1"/>
              <a:t>comparar</a:t>
            </a:r>
            <a:r>
              <a:rPr dirty="0"/>
              <a:t> </a:t>
            </a:r>
            <a:r>
              <a:rPr dirty="0" err="1"/>
              <a:t>precios</a:t>
            </a:r>
            <a:r>
              <a:rPr dirty="0"/>
              <a:t> de </a:t>
            </a:r>
            <a:r>
              <a:rPr dirty="0" err="1"/>
              <a:t>festivales</a:t>
            </a:r>
            <a:r>
              <a:rPr dirty="0"/>
              <a:t> </a:t>
            </a:r>
            <a:r>
              <a:rPr dirty="0" err="1"/>
              <a:t>masivos</a:t>
            </a:r>
            <a:r>
              <a:rPr dirty="0"/>
              <a:t> con </a:t>
            </a:r>
            <a:r>
              <a:rPr dirty="0" err="1"/>
              <a:t>teatros</a:t>
            </a:r>
            <a:r>
              <a:rPr dirty="0"/>
              <a:t> locales bajo la </a:t>
            </a:r>
            <a:r>
              <a:rPr dirty="0" err="1"/>
              <a:t>misma</a:t>
            </a:r>
            <a:r>
              <a:rPr dirty="0"/>
              <a:t> </a:t>
            </a:r>
            <a:r>
              <a:rPr dirty="0" err="1"/>
              <a:t>regla</a:t>
            </a:r>
            <a:r>
              <a:rPr dirty="0"/>
              <a:t> de </a:t>
            </a:r>
            <a:r>
              <a:rPr dirty="0" err="1"/>
              <a:t>exclusividad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2. El 25% de las </a:t>
            </a:r>
            <a:r>
              <a:rPr dirty="0" err="1"/>
              <a:t>localidades</a:t>
            </a:r>
            <a:r>
              <a:rPr dirty="0"/>
              <a:t> </a:t>
            </a:r>
            <a:r>
              <a:rPr dirty="0" err="1"/>
              <a:t>ocupan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del 5% del </a:t>
            </a:r>
            <a:r>
              <a:rPr dirty="0" err="1"/>
              <a:t>aforo</a:t>
            </a:r>
            <a:r>
              <a:rPr dirty="0"/>
              <a:t> total, </a:t>
            </a:r>
            <a:r>
              <a:rPr dirty="0" err="1"/>
              <a:t>constituyendo</a:t>
            </a:r>
            <a:r>
              <a:rPr dirty="0"/>
              <a:t> </a:t>
            </a:r>
            <a:r>
              <a:rPr dirty="0" err="1"/>
              <a:t>candidatas</a:t>
            </a:r>
            <a:r>
              <a:rPr dirty="0"/>
              <a:t> naturales a VIP o </a:t>
            </a:r>
            <a:r>
              <a:rPr dirty="0" err="1"/>
              <a:t>palcos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3. </a:t>
            </a:r>
            <a:r>
              <a:rPr dirty="0" err="1"/>
              <a:t>Descomposicion</a:t>
            </a:r>
            <a:r>
              <a:rPr dirty="0"/>
              <a:t> del Pico </a:t>
            </a:r>
            <a:r>
              <a:rPr dirty="0" err="1"/>
              <a:t>en</a:t>
            </a:r>
            <a:r>
              <a:rPr dirty="0"/>
              <a:t> 1.0: El 45.5% </a:t>
            </a:r>
            <a:r>
              <a:rPr dirty="0" err="1"/>
              <a:t>corresponde</a:t>
            </a:r>
            <a:r>
              <a:rPr dirty="0"/>
              <a:t> a </a:t>
            </a:r>
            <a:r>
              <a:rPr dirty="0" err="1"/>
              <a:t>eventos</a:t>
            </a:r>
            <a:r>
              <a:rPr dirty="0"/>
              <a:t> de </a:t>
            </a:r>
            <a:r>
              <a:rPr dirty="0" err="1"/>
              <a:t>admision</a:t>
            </a:r>
            <a:r>
              <a:rPr dirty="0"/>
              <a:t> unica (</a:t>
            </a:r>
            <a:r>
              <a:rPr dirty="0" err="1"/>
              <a:t>tarifa</a:t>
            </a:r>
            <a:r>
              <a:rPr dirty="0"/>
              <a:t> plana) y </a:t>
            </a:r>
            <a:r>
              <a:rPr dirty="0" err="1"/>
              <a:t>el</a:t>
            </a:r>
            <a:r>
              <a:rPr dirty="0"/>
              <a:t> 13.0% a las </a:t>
            </a:r>
            <a:r>
              <a:rPr dirty="0" err="1"/>
              <a:t>localidades</a:t>
            </a:r>
            <a:r>
              <a:rPr dirty="0"/>
              <a:t> mas </a:t>
            </a:r>
            <a:r>
              <a:rPr dirty="0" err="1"/>
              <a:t>caras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multi-zona.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/>
              <a:t>DESCOMPOSICION DEL RATIO DE PRECIO = 1.0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rPr dirty="0"/>
              <a:t>1. </a:t>
            </a:r>
            <a:r>
              <a:rPr dirty="0" err="1"/>
              <a:t>Eventos</a:t>
            </a:r>
            <a:r>
              <a:rPr dirty="0"/>
              <a:t> de </a:t>
            </a:r>
            <a:r>
              <a:rPr dirty="0" err="1"/>
              <a:t>Admision</a:t>
            </a:r>
            <a:r>
              <a:rPr dirty="0"/>
              <a:t> Unica (filas_peso_1 = 15,375 | 45.5%)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rPr dirty="0" err="1"/>
              <a:t>Funciones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localidad</a:t>
            </a:r>
            <a:r>
              <a:rPr dirty="0"/>
              <a:t> </a:t>
            </a:r>
            <a:r>
              <a:rPr dirty="0" err="1"/>
              <a:t>donde</a:t>
            </a:r>
            <a:r>
              <a:rPr dirty="0"/>
              <a:t> </a:t>
            </a:r>
            <a:r>
              <a:rPr dirty="0" err="1"/>
              <a:t>peso_aforo</a:t>
            </a:r>
            <a:r>
              <a:rPr dirty="0"/>
              <a:t> = 100% (</a:t>
            </a:r>
            <a:r>
              <a:rPr dirty="0" err="1"/>
              <a:t>tarifa</a:t>
            </a:r>
            <a:r>
              <a:rPr dirty="0"/>
              <a:t> plana).</a:t>
            </a:r>
            <a:br>
              <a:rPr dirty="0"/>
            </a:br>
            <a:r>
              <a:rPr dirty="0"/>
              <a:t>Por </a:t>
            </a:r>
            <a:r>
              <a:rPr dirty="0" err="1"/>
              <a:t>definicion</a:t>
            </a:r>
            <a:r>
              <a:rPr dirty="0"/>
              <a:t> </a:t>
            </a:r>
            <a:r>
              <a:rPr dirty="0" err="1"/>
              <a:t>matematica</a:t>
            </a:r>
            <a:r>
              <a:rPr dirty="0"/>
              <a:t>,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unico</a:t>
            </a:r>
            <a:r>
              <a:rPr dirty="0"/>
              <a:t> </a:t>
            </a:r>
            <a:r>
              <a:rPr dirty="0" err="1"/>
              <a:t>precio</a:t>
            </a:r>
            <a:r>
              <a:rPr dirty="0"/>
              <a:t> </a:t>
            </a:r>
            <a:r>
              <a:rPr dirty="0" err="1"/>
              <a:t>existente</a:t>
            </a:r>
            <a:r>
              <a:rPr dirty="0"/>
              <a:t> es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maximo</a:t>
            </a:r>
            <a:r>
              <a:rPr dirty="0"/>
              <a:t> (</a:t>
            </a:r>
            <a:r>
              <a:rPr dirty="0" err="1"/>
              <a:t>ratio_precio_max</a:t>
            </a:r>
            <a:r>
              <a:rPr dirty="0"/>
              <a:t> = 1.0).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2. Localidades Top Multi-Zona (filas_ratio_1_multizona = 4,407 | 13.0%)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La localidad o grupo de localidades mas costosas dentro de espectaculos estratificados (obras de teatro con platea/balcon, estadios con palcos/gradas, etc.).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3. Cardinalidad y Union Disjunta (filas_ratio_1 = 19,782 | 58.6%)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El 82.5% de los eventos del catalogo tienen 1 sola localidad. En eventos multi-zona (17.5%), el promedio es de 5.7 localidades por funcion.</a:t>
            </a:r>
            <a:br/>
            <a:br/>
            <a:r>
              <a:t>filas_peso_1 subconjunto estricto de filas_ratio_1.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HALLAZGOS: ADMISION UNICA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b_top_venues_uni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2128520"/>
            <a:ext cx="5120640" cy="3698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6916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686969"/>
            <a:ext cx="4754880" cy="233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Los </a:t>
            </a:r>
            <a:r>
              <a:rPr dirty="0" err="1"/>
              <a:t>eventos</a:t>
            </a:r>
            <a:r>
              <a:rPr dirty="0"/>
              <a:t> con </a:t>
            </a:r>
            <a:r>
              <a:rPr dirty="0" err="1"/>
              <a:t>una</a:t>
            </a:r>
            <a:r>
              <a:rPr dirty="0"/>
              <a:t> sola </a:t>
            </a:r>
            <a:r>
              <a:rPr dirty="0" err="1"/>
              <a:t>localidad</a:t>
            </a:r>
            <a:r>
              <a:rPr dirty="0"/>
              <a:t> (</a:t>
            </a:r>
            <a:r>
              <a:rPr dirty="0" err="1"/>
              <a:t>peso_aforo</a:t>
            </a:r>
            <a:r>
              <a:rPr dirty="0"/>
              <a:t> = 100%) </a:t>
            </a:r>
            <a:r>
              <a:rPr dirty="0" err="1"/>
              <a:t>representan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82.5% de </a:t>
            </a:r>
            <a:r>
              <a:rPr dirty="0" err="1"/>
              <a:t>todos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del </a:t>
            </a:r>
            <a:r>
              <a:rPr dirty="0" err="1"/>
              <a:t>catalogo</a:t>
            </a:r>
            <a:r>
              <a:rPr dirty="0"/>
              <a:t>. Los </a:t>
            </a:r>
            <a:r>
              <a:rPr dirty="0" err="1"/>
              <a:t>datos</a:t>
            </a:r>
            <a:r>
              <a:rPr dirty="0"/>
              <a:t> </a:t>
            </a:r>
            <a:r>
              <a:rPr dirty="0" err="1"/>
              <a:t>demuestran</a:t>
            </a:r>
            <a:r>
              <a:rPr dirty="0"/>
              <a:t> que </a:t>
            </a:r>
            <a:r>
              <a:rPr dirty="0" err="1"/>
              <a:t>estan</a:t>
            </a:r>
            <a:r>
              <a:rPr dirty="0"/>
              <a:t> </a:t>
            </a:r>
            <a:r>
              <a:rPr dirty="0" err="1"/>
              <a:t>concentrados</a:t>
            </a:r>
            <a:r>
              <a:rPr dirty="0"/>
              <a:t> </a:t>
            </a:r>
            <a:r>
              <a:rPr dirty="0" err="1"/>
              <a:t>masivamente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funciones</a:t>
            </a:r>
            <a:r>
              <a:rPr dirty="0"/>
              <a:t> </a:t>
            </a:r>
            <a:r>
              <a:rPr dirty="0" err="1"/>
              <a:t>culturales</a:t>
            </a:r>
            <a:r>
              <a:rPr dirty="0"/>
              <a:t> y </a:t>
            </a:r>
            <a:r>
              <a:rPr dirty="0" err="1"/>
              <a:t>ciclos</a:t>
            </a:r>
            <a:r>
              <a:rPr dirty="0"/>
              <a:t> </a:t>
            </a:r>
            <a:r>
              <a:rPr dirty="0" err="1"/>
              <a:t>continuos</a:t>
            </a:r>
            <a:r>
              <a:rPr dirty="0"/>
              <a:t> de cine, </a:t>
            </a:r>
            <a:r>
              <a:rPr dirty="0" err="1"/>
              <a:t>centros</a:t>
            </a:r>
            <a:r>
              <a:rPr dirty="0"/>
              <a:t> </a:t>
            </a:r>
            <a:r>
              <a:rPr dirty="0" err="1"/>
              <a:t>interactivos</a:t>
            </a:r>
            <a:r>
              <a:rPr dirty="0"/>
              <a:t> de </a:t>
            </a:r>
            <a:r>
              <a:rPr dirty="0" err="1"/>
              <a:t>ciencia</a:t>
            </a:r>
            <a:r>
              <a:rPr dirty="0"/>
              <a:t>, </a:t>
            </a:r>
            <a:r>
              <a:rPr dirty="0" err="1"/>
              <a:t>planetarios</a:t>
            </a:r>
            <a:r>
              <a:rPr dirty="0"/>
              <a:t> y </a:t>
            </a:r>
            <a:r>
              <a:rPr dirty="0" err="1"/>
              <a:t>comedia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vivo.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1. Mas de 7,000 </a:t>
            </a:r>
            <a:r>
              <a:rPr dirty="0" err="1"/>
              <a:t>funciones</a:t>
            </a:r>
            <a:r>
              <a:rPr dirty="0"/>
              <a:t> (45.6% del total) se </a:t>
            </a:r>
            <a:r>
              <a:rPr dirty="0" err="1"/>
              <a:t>realizan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las salas de la </a:t>
            </a:r>
            <a:r>
              <a:rPr dirty="0" err="1"/>
              <a:t>Cinemateca</a:t>
            </a:r>
            <a:r>
              <a:rPr dirty="0"/>
              <a:t> de Bogota (Sala 3: 2,392, Sala Capital: 2,379, Sala 2: 2,235).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2. </a:t>
            </a:r>
            <a:r>
              <a:rPr lang="en-US" dirty="0"/>
              <a:t>Venues </a:t>
            </a:r>
            <a:r>
              <a:rPr dirty="0" err="1"/>
              <a:t>como</a:t>
            </a:r>
            <a:r>
              <a:rPr dirty="0"/>
              <a:t> YAWA Cali (1,476 </a:t>
            </a:r>
            <a:r>
              <a:rPr dirty="0" err="1"/>
              <a:t>funciones</a:t>
            </a:r>
            <a:r>
              <a:rPr dirty="0"/>
              <a:t>), </a:t>
            </a:r>
            <a:r>
              <a:rPr dirty="0" err="1"/>
              <a:t>Maloka</a:t>
            </a:r>
            <a:r>
              <a:rPr dirty="0"/>
              <a:t> (864), </a:t>
            </a:r>
            <a:r>
              <a:rPr dirty="0" err="1"/>
              <a:t>Planetario</a:t>
            </a:r>
            <a:r>
              <a:rPr dirty="0"/>
              <a:t> (421) y Museo La Tertulia (303) </a:t>
            </a:r>
            <a:r>
              <a:rPr dirty="0" err="1"/>
              <a:t>operan</a:t>
            </a:r>
            <a:r>
              <a:rPr dirty="0"/>
              <a:t> con </a:t>
            </a:r>
            <a:r>
              <a:rPr dirty="0" err="1"/>
              <a:t>tarifa</a:t>
            </a:r>
            <a:r>
              <a:rPr dirty="0"/>
              <a:t> plana.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3. </a:t>
            </a:r>
            <a:r>
              <a:rPr dirty="0" err="1"/>
              <a:t>Espacios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Boom Stand Up Bar (810) y Teatro Petra (471) </a:t>
            </a:r>
            <a:r>
              <a:rPr dirty="0" err="1"/>
              <a:t>manejan</a:t>
            </a:r>
            <a:r>
              <a:rPr dirty="0"/>
              <a:t> </a:t>
            </a:r>
            <a:r>
              <a:rPr dirty="0" err="1"/>
              <a:t>acceso</a:t>
            </a:r>
            <a:r>
              <a:rPr dirty="0"/>
              <a:t> general no </a:t>
            </a:r>
            <a:r>
              <a:rPr dirty="0" err="1"/>
              <a:t>zonificado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DEMOSTRACION: MULTI-ZONA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188720"/>
            <a:ext cx="106253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34074"/>
                </a:solidFill>
                <a:latin typeface="Montserrat"/>
              </a:defRPr>
            </a:pPr>
            <a:r>
              <a:t>¿Son Realmente Palcos y VIPs las Localidades Mas Caras en Eventos Multi-Zona? (N = 4,407)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c_multizona_tags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120640" cy="3698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6916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352362"/>
            <a:ext cx="4754880" cy="2398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Al </a:t>
            </a:r>
            <a:r>
              <a:rPr dirty="0" err="1"/>
              <a:t>evaluar</a:t>
            </a:r>
            <a:r>
              <a:rPr dirty="0"/>
              <a:t> las 4,407 </a:t>
            </a:r>
            <a:r>
              <a:rPr dirty="0" err="1"/>
              <a:t>localidades</a:t>
            </a:r>
            <a:r>
              <a:rPr dirty="0"/>
              <a:t> con </a:t>
            </a:r>
            <a:r>
              <a:rPr dirty="0" err="1"/>
              <a:t>ratio_precio_max</a:t>
            </a:r>
            <a:r>
              <a:rPr dirty="0"/>
              <a:t> = 1.0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eventos</a:t>
            </a:r>
            <a:r>
              <a:rPr dirty="0"/>
              <a:t> multi-zona (</a:t>
            </a:r>
            <a:r>
              <a:rPr dirty="0" err="1"/>
              <a:t>peso_aforo</a:t>
            </a:r>
            <a:r>
              <a:rPr dirty="0"/>
              <a:t> &lt; 0.99), </a:t>
            </a:r>
            <a:r>
              <a:rPr dirty="0" err="1"/>
              <a:t>el</a:t>
            </a:r>
            <a:r>
              <a:rPr dirty="0"/>
              <a:t> 61.5% </a:t>
            </a:r>
            <a:r>
              <a:rPr dirty="0" err="1"/>
              <a:t>activa</a:t>
            </a:r>
            <a:r>
              <a:rPr dirty="0"/>
              <a:t> tags </a:t>
            </a:r>
            <a:r>
              <a:rPr dirty="0" err="1"/>
              <a:t>explicitos</a:t>
            </a:r>
            <a:r>
              <a:rPr dirty="0"/>
              <a:t> de </a:t>
            </a:r>
            <a:r>
              <a:rPr dirty="0" err="1"/>
              <a:t>gama</a:t>
            </a:r>
            <a:r>
              <a:rPr dirty="0"/>
              <a:t> </a:t>
            </a:r>
            <a:r>
              <a:rPr dirty="0" err="1"/>
              <a:t>alta</a:t>
            </a:r>
            <a:r>
              <a:rPr dirty="0"/>
              <a:t>: PLATEA (1,450 reg | 32.9%), PALCO (842 reg | 19.1%), PREFERENCIAL (474 reg | 10.8%) y VIP (401 reg | 9.1%).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1. En </a:t>
            </a:r>
            <a:r>
              <a:rPr dirty="0" err="1"/>
              <a:t>teatros</a:t>
            </a:r>
            <a:r>
              <a:rPr dirty="0"/>
              <a:t> y </a:t>
            </a:r>
            <a:r>
              <a:rPr dirty="0" err="1"/>
              <a:t>auditorios</a:t>
            </a:r>
            <a:r>
              <a:rPr dirty="0"/>
              <a:t>, la </a:t>
            </a:r>
            <a:r>
              <a:rPr dirty="0" err="1"/>
              <a:t>localidad</a:t>
            </a:r>
            <a:r>
              <a:rPr dirty="0"/>
              <a:t> mas </a:t>
            </a:r>
            <a:r>
              <a:rPr dirty="0" err="1"/>
              <a:t>costosa</a:t>
            </a:r>
            <a:r>
              <a:rPr dirty="0"/>
              <a:t> es Platea / Luneta;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estadios</a:t>
            </a:r>
            <a:r>
              <a:rPr dirty="0"/>
              <a:t> y arenas son </a:t>
            </a:r>
            <a:r>
              <a:rPr dirty="0" err="1"/>
              <a:t>Palcos</a:t>
            </a:r>
            <a:r>
              <a:rPr dirty="0"/>
              <a:t> / VIPs;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festivales</a:t>
            </a:r>
            <a:r>
              <a:rPr dirty="0"/>
              <a:t> son Zonas Fan / Coche.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2. Las 4 </a:t>
            </a:r>
            <a:r>
              <a:rPr dirty="0" err="1"/>
              <a:t>etiquetas</a:t>
            </a:r>
            <a:r>
              <a:rPr dirty="0"/>
              <a:t> de mayor </a:t>
            </a:r>
            <a:r>
              <a:rPr dirty="0" err="1"/>
              <a:t>precio</a:t>
            </a:r>
            <a:r>
              <a:rPr dirty="0"/>
              <a:t> suman 3,167 </a:t>
            </a:r>
            <a:r>
              <a:rPr dirty="0" err="1"/>
              <a:t>registros</a:t>
            </a:r>
            <a:r>
              <a:rPr dirty="0"/>
              <a:t> de las 4,407 </a:t>
            </a:r>
            <a:r>
              <a:rPr dirty="0" err="1"/>
              <a:t>localidades</a:t>
            </a:r>
            <a:r>
              <a:rPr dirty="0"/>
              <a:t> tope.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3. </a:t>
            </a:r>
            <a:r>
              <a:rPr dirty="0" err="1"/>
              <a:t>Localidades</a:t>
            </a:r>
            <a:r>
              <a:rPr dirty="0"/>
              <a:t> con </a:t>
            </a:r>
            <a:r>
              <a:rPr dirty="0" err="1"/>
              <a:t>nombres</a:t>
            </a:r>
            <a:r>
              <a:rPr dirty="0"/>
              <a:t> de fantasia sin palabra VIP se </a:t>
            </a:r>
            <a:r>
              <a:rPr dirty="0" err="1"/>
              <a:t>clasifican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ratio = 1.0 y bajo </a:t>
            </a:r>
            <a:r>
              <a:rPr dirty="0" err="1"/>
              <a:t>aforo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DISTRIBUCIONES EN EVENTOS MULTI-ZONA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2d_distribuciones_multizo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120640" cy="38404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6916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539825"/>
            <a:ext cx="4754880" cy="20108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Al </a:t>
            </a:r>
            <a:r>
              <a:rPr dirty="0" err="1"/>
              <a:t>aislar</a:t>
            </a:r>
            <a:r>
              <a:rPr dirty="0"/>
              <a:t> las 18,400 </a:t>
            </a:r>
            <a:r>
              <a:rPr dirty="0" err="1"/>
              <a:t>localidades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3,252 </a:t>
            </a:r>
            <a:r>
              <a:rPr dirty="0" err="1"/>
              <a:t>eventos</a:t>
            </a:r>
            <a:r>
              <a:rPr dirty="0"/>
              <a:t> multi-zona (</a:t>
            </a:r>
            <a:r>
              <a:rPr dirty="0" err="1"/>
              <a:t>peso_aforo</a:t>
            </a:r>
            <a:r>
              <a:rPr dirty="0"/>
              <a:t> &lt; 0.99), se </a:t>
            </a:r>
            <a:r>
              <a:rPr dirty="0" err="1"/>
              <a:t>elimina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sesgo</a:t>
            </a:r>
            <a:r>
              <a:rPr dirty="0"/>
              <a:t> del 45.5% de </a:t>
            </a:r>
            <a:r>
              <a:rPr dirty="0" err="1"/>
              <a:t>tarifas</a:t>
            </a:r>
            <a:r>
              <a:rPr dirty="0"/>
              <a:t> </a:t>
            </a:r>
            <a:r>
              <a:rPr dirty="0" err="1"/>
              <a:t>planas</a:t>
            </a:r>
            <a:r>
              <a:rPr dirty="0"/>
              <a:t>. La </a:t>
            </a:r>
            <a:r>
              <a:rPr dirty="0" err="1"/>
              <a:t>mediana</a:t>
            </a:r>
            <a:r>
              <a:rPr dirty="0"/>
              <a:t> de </a:t>
            </a:r>
            <a:r>
              <a:rPr dirty="0" err="1"/>
              <a:t>ratio_precio_max</a:t>
            </a:r>
            <a:r>
              <a:rPr dirty="0"/>
              <a:t> se reduce de 1.00 a 0.671 y la </a:t>
            </a:r>
            <a:r>
              <a:rPr dirty="0" err="1"/>
              <a:t>mediana</a:t>
            </a:r>
            <a:r>
              <a:rPr dirty="0"/>
              <a:t> de </a:t>
            </a:r>
            <a:r>
              <a:rPr dirty="0" err="1"/>
              <a:t>peso_aforo</a:t>
            </a:r>
            <a:r>
              <a:rPr dirty="0"/>
              <a:t> </a:t>
            </a:r>
            <a:r>
              <a:rPr dirty="0" err="1"/>
              <a:t>baja</a:t>
            </a:r>
            <a:r>
              <a:rPr dirty="0"/>
              <a:t> de 1.00 a 0.111 (11.1% del </a:t>
            </a:r>
            <a:r>
              <a:rPr dirty="0" err="1"/>
              <a:t>recinto</a:t>
            </a:r>
            <a:r>
              <a:rPr dirty="0"/>
              <a:t>).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1. Emerge </a:t>
            </a:r>
            <a:r>
              <a:rPr dirty="0" err="1"/>
              <a:t>una</a:t>
            </a:r>
            <a:r>
              <a:rPr dirty="0"/>
              <a:t> </a:t>
            </a:r>
            <a:r>
              <a:rPr dirty="0" err="1"/>
              <a:t>distribucion</a:t>
            </a:r>
            <a:r>
              <a:rPr dirty="0"/>
              <a:t> continua </a:t>
            </a:r>
            <a:r>
              <a:rPr dirty="0" err="1"/>
              <a:t>donde</a:t>
            </a:r>
            <a:r>
              <a:rPr dirty="0"/>
              <a:t> </a:t>
            </a:r>
            <a:r>
              <a:rPr dirty="0" err="1"/>
              <a:t>gradas</a:t>
            </a:r>
            <a:r>
              <a:rPr dirty="0"/>
              <a:t> </a:t>
            </a:r>
            <a:r>
              <a:rPr dirty="0" err="1"/>
              <a:t>populares</a:t>
            </a:r>
            <a:r>
              <a:rPr dirty="0"/>
              <a:t> </a:t>
            </a:r>
            <a:r>
              <a:rPr dirty="0" err="1"/>
              <a:t>estan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0.20-0.50, </a:t>
            </a:r>
            <a:r>
              <a:rPr dirty="0" err="1"/>
              <a:t>preferenciales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0.60-0.85 y VIPs </a:t>
            </a:r>
            <a:r>
              <a:rPr dirty="0" err="1"/>
              <a:t>en</a:t>
            </a:r>
            <a:r>
              <a:rPr dirty="0"/>
              <a:t> 1.00.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2. El 75% de las </a:t>
            </a:r>
            <a:r>
              <a:rPr dirty="0" err="1"/>
              <a:t>localidades</a:t>
            </a:r>
            <a:r>
              <a:rPr dirty="0"/>
              <a:t> multi-zona </a:t>
            </a:r>
            <a:r>
              <a:rPr dirty="0" err="1"/>
              <a:t>ocupan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del 24.5% del </a:t>
            </a:r>
            <a:r>
              <a:rPr dirty="0" err="1"/>
              <a:t>aforo</a:t>
            </a:r>
            <a:r>
              <a:rPr dirty="0"/>
              <a:t> del</a:t>
            </a:r>
            <a:r>
              <a:rPr lang="en-US" dirty="0"/>
              <a:t> venue</a:t>
            </a:r>
            <a:r>
              <a:rPr dirty="0"/>
              <a:t>, </a:t>
            </a:r>
            <a:r>
              <a:rPr dirty="0" err="1"/>
              <a:t>reflejando</a:t>
            </a:r>
            <a:r>
              <a:rPr dirty="0"/>
              <a:t> la </a:t>
            </a:r>
            <a:r>
              <a:rPr dirty="0" err="1"/>
              <a:t>arquitectura</a:t>
            </a:r>
            <a:r>
              <a:rPr dirty="0"/>
              <a:t> real de arenas y </a:t>
            </a:r>
            <a:r>
              <a:rPr dirty="0" err="1"/>
              <a:t>estadios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3. El </a:t>
            </a:r>
            <a:r>
              <a:rPr dirty="0" err="1"/>
              <a:t>percentil</a:t>
            </a:r>
            <a:r>
              <a:rPr dirty="0"/>
              <a:t> </a:t>
            </a:r>
            <a:r>
              <a:rPr dirty="0" err="1"/>
              <a:t>relativo</a:t>
            </a:r>
            <a:r>
              <a:rPr dirty="0"/>
              <a:t> se </a:t>
            </a:r>
            <a:r>
              <a:rPr dirty="0" err="1"/>
              <a:t>convierte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curva </a:t>
            </a:r>
            <a:r>
              <a:rPr dirty="0" err="1"/>
              <a:t>simetrica</a:t>
            </a:r>
            <a:r>
              <a:rPr dirty="0"/>
              <a:t> y </a:t>
            </a:r>
            <a:r>
              <a:rPr dirty="0" err="1"/>
              <a:t>balanceada</a:t>
            </a:r>
            <a:r>
              <a:rPr dirty="0"/>
              <a:t> (</a:t>
            </a:r>
            <a:r>
              <a:rPr dirty="0" err="1"/>
              <a:t>mediana</a:t>
            </a:r>
            <a:r>
              <a:rPr dirty="0"/>
              <a:t> 0.600) ideal para </a:t>
            </a:r>
            <a:r>
              <a:rPr dirty="0" err="1"/>
              <a:t>optimizacion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K-Means.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EVALUACION DE LAS 17 VARIABLES NLP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1. Jerarquia Comercial (5 Tags)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- GENERAL (15,383 reg | 45.5%): Ratio medio 0.96, Aforo 95.3%, Mediana $15k COP.</a:t>
            </a:r>
            <a:br/>
            <a:r>
              <a:t>- PLATEA (4,015 reg | 11.9%): Ratio medio 0.80, Aforo 22.7%, Mediana $95k COP.</a:t>
            </a:r>
            <a:br/>
            <a:r>
              <a:t>- PALCO (3,547 reg | 10.5%): Ratio medio 0.69, Aforo 9.8%, Mediana $108k COP.</a:t>
            </a:r>
            <a:br/>
            <a:r>
              <a:t>- VIP (1,253 reg | 3.7%): Ratio medio 0.68, Aforo 15.9%, Mediana $190k COP.</a:t>
            </a:r>
            <a:br/>
            <a:r>
              <a:t>- PREFERENCIAL (1,253 reg | 3.7%): Ratio medio 0.80, Aforo 19.0%, Mediana $73.5k COP.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2. Nivel Vertical y Espacial (9 Tags)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- PISO_ALTO (2,933 reg | 8.7%): Ratio medio 0.46 (gradas altas economicas), Mediana $96.5k COP.</a:t>
            </a:r>
            <a:br/>
            <a:r>
              <a:t>- BALCON (2,679 reg | 7.9%): Ratio medio 0.58, Aforo 16.2%, Mediana $56k COP.</a:t>
            </a:r>
            <a:br/>
            <a:r>
              <a:t>- OCCIDENTAL (1,134 reg): Ratio medio 0.51, Desv 0.35, Mediana $50k COP.</a:t>
            </a:r>
            <a:br/>
            <a:r>
              <a:t>- ORIENTAL (799 reg): Ratio medio 0.52, Desv 0.26, Mediana $44k COP.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3. Restricciones de Acceso (3 Tags)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- FAMILIAR (82 reg | 0.2%): Ratio medio 0.46, Aforo 9.7%.</a:t>
            </a:r>
            <a:br/>
            <a:r>
              <a:t>- MOVILIDAD_REDUCIDA (63 reg | 0.2%): Ratio medio 0.77, Aforo 0.7%.</a:t>
            </a:r>
            <a:br/>
            <a:r>
              <a:t>- MENORES (57 reg | 0.2%): Ratio medio 0.45, Aforo 12.4%.</a:t>
            </a:r>
            <a:br/>
            <a:br/>
            <a:r>
              <a:t>Suman menos del 0.3% del catalogo.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VALIDACION DE VARIABLES NLP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3a_demostracion_17ta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120640" cy="25603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6916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2559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El scatter plot </a:t>
            </a:r>
            <a:r>
              <a:rPr dirty="0" err="1"/>
              <a:t>demuestra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los</a:t>
            </a:r>
            <a:r>
              <a:rPr dirty="0"/>
              <a:t> tags de </a:t>
            </a:r>
            <a:r>
              <a:rPr dirty="0" err="1"/>
              <a:t>Jerarquia</a:t>
            </a:r>
            <a:r>
              <a:rPr dirty="0"/>
              <a:t> </a:t>
            </a:r>
            <a:r>
              <a:rPr dirty="0" err="1"/>
              <a:t>Comercial</a:t>
            </a:r>
            <a:r>
              <a:rPr dirty="0"/>
              <a:t> y Nivel Vertical </a:t>
            </a:r>
            <a:r>
              <a:rPr dirty="0" err="1"/>
              <a:t>forman</a:t>
            </a:r>
            <a:r>
              <a:rPr dirty="0"/>
              <a:t> </a:t>
            </a:r>
            <a:r>
              <a:rPr dirty="0" err="1"/>
              <a:t>una</a:t>
            </a:r>
            <a:r>
              <a:rPr dirty="0"/>
              <a:t> curva diagonal de </a:t>
            </a:r>
            <a:r>
              <a:rPr dirty="0" err="1"/>
              <a:t>segmentacion</a:t>
            </a:r>
            <a:r>
              <a:rPr dirty="0"/>
              <a:t> </a:t>
            </a:r>
            <a:r>
              <a:rPr lang="en-US" dirty="0" err="1"/>
              <a:t>muy</a:t>
            </a:r>
            <a:r>
              <a:rPr lang="en-US" dirty="0"/>
              <a:t> Buena </a:t>
            </a:r>
            <a:r>
              <a:rPr dirty="0"/>
              <a:t>(</a:t>
            </a:r>
            <a:r>
              <a:rPr dirty="0" err="1"/>
              <a:t>desde</a:t>
            </a:r>
            <a:r>
              <a:rPr dirty="0"/>
              <a:t> General con 95% </a:t>
            </a:r>
            <a:r>
              <a:rPr dirty="0" err="1"/>
              <a:t>aforo</a:t>
            </a:r>
            <a:r>
              <a:rPr dirty="0"/>
              <a:t> hasta VIP con $190k COP), </a:t>
            </a:r>
            <a:r>
              <a:rPr dirty="0" err="1"/>
              <a:t>mientras</a:t>
            </a:r>
            <a:r>
              <a:rPr dirty="0"/>
              <a:t> que </a:t>
            </a:r>
            <a:r>
              <a:rPr dirty="0" err="1"/>
              <a:t>todas</a:t>
            </a:r>
            <a:r>
              <a:rPr dirty="0"/>
              <a:t> las </a:t>
            </a:r>
            <a:r>
              <a:rPr dirty="0" err="1"/>
              <a:t>etiquetas</a:t>
            </a:r>
            <a:r>
              <a:rPr dirty="0"/>
              <a:t> de </a:t>
            </a:r>
            <a:r>
              <a:rPr dirty="0" err="1"/>
              <a:t>Orientacion</a:t>
            </a:r>
            <a:r>
              <a:rPr dirty="0"/>
              <a:t> </a:t>
            </a:r>
            <a:r>
              <a:rPr dirty="0" err="1"/>
              <a:t>Espacial</a:t>
            </a:r>
            <a:r>
              <a:rPr dirty="0"/>
              <a:t> (Occidental, Oriental, Norte, Sur) </a:t>
            </a:r>
            <a:r>
              <a:rPr lang="en-US" dirty="0"/>
              <a:t>se </a:t>
            </a:r>
            <a:r>
              <a:rPr lang="en-US" dirty="0" err="1"/>
              <a:t>encuentran</a:t>
            </a:r>
            <a:r>
              <a:rPr lang="en-US"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mismo</a:t>
            </a:r>
            <a:r>
              <a:rPr dirty="0"/>
              <a:t> </a:t>
            </a:r>
            <a:r>
              <a:rPr dirty="0" err="1"/>
              <a:t>racimo</a:t>
            </a:r>
            <a:r>
              <a:rPr dirty="0"/>
              <a:t> central (~$40k-$58k COP y ~10%-19% </a:t>
            </a:r>
            <a:r>
              <a:rPr dirty="0" err="1"/>
              <a:t>aforo</a:t>
            </a:r>
            <a:r>
              <a:rPr dirty="0"/>
              <a:t>).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1. Los 7 tags </a:t>
            </a:r>
            <a:r>
              <a:rPr dirty="0" err="1"/>
              <a:t>seleccionados</a:t>
            </a:r>
            <a:r>
              <a:rPr dirty="0"/>
              <a:t> </a:t>
            </a:r>
            <a:r>
              <a:rPr dirty="0" err="1"/>
              <a:t>concentran</a:t>
            </a:r>
            <a:r>
              <a:rPr dirty="0"/>
              <a:t> mas del 95% de las </a:t>
            </a:r>
            <a:r>
              <a:rPr dirty="0" err="1"/>
              <a:t>asignaciones</a:t>
            </a:r>
            <a:r>
              <a:rPr dirty="0"/>
              <a:t> de </a:t>
            </a:r>
            <a:r>
              <a:rPr dirty="0" err="1"/>
              <a:t>etiquetas</a:t>
            </a:r>
            <a:r>
              <a:rPr dirty="0"/>
              <a:t> del </a:t>
            </a:r>
            <a:r>
              <a:rPr dirty="0" err="1"/>
              <a:t>catalogo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2. Occidental </a:t>
            </a:r>
            <a:r>
              <a:rPr dirty="0" err="1"/>
              <a:t>tiene</a:t>
            </a:r>
            <a:r>
              <a:rPr dirty="0"/>
              <a:t> un </a:t>
            </a:r>
            <a:r>
              <a:rPr dirty="0" err="1"/>
              <a:t>rango</a:t>
            </a:r>
            <a:r>
              <a:rPr dirty="0"/>
              <a:t> de </a:t>
            </a:r>
            <a:r>
              <a:rPr dirty="0" err="1"/>
              <a:t>precios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$0 hasta $2.15M COP (</a:t>
            </a:r>
            <a:r>
              <a:rPr dirty="0" err="1"/>
              <a:t>mezcla</a:t>
            </a:r>
            <a:r>
              <a:rPr dirty="0"/>
              <a:t> 113 VIPs, 202 </a:t>
            </a:r>
            <a:r>
              <a:rPr dirty="0" err="1"/>
              <a:t>Gradas</a:t>
            </a:r>
            <a:r>
              <a:rPr dirty="0"/>
              <a:t> </a:t>
            </a:r>
            <a:r>
              <a:rPr dirty="0" err="1"/>
              <a:t>Altas</a:t>
            </a:r>
            <a:r>
              <a:rPr dirty="0"/>
              <a:t> y 181 </a:t>
            </a:r>
            <a:r>
              <a:rPr dirty="0" err="1"/>
              <a:t>Generales</a:t>
            </a:r>
            <a:r>
              <a:rPr dirty="0"/>
              <a:t>).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3. Familiar, </a:t>
            </a:r>
            <a:r>
              <a:rPr dirty="0" err="1"/>
              <a:t>Menores</a:t>
            </a:r>
            <a:r>
              <a:rPr dirty="0"/>
              <a:t> y </a:t>
            </a:r>
            <a:r>
              <a:rPr dirty="0" err="1"/>
              <a:t>Movilidad</a:t>
            </a:r>
            <a:r>
              <a:rPr dirty="0"/>
              <a:t> </a:t>
            </a:r>
            <a:r>
              <a:rPr dirty="0" err="1"/>
              <a:t>Reducida</a:t>
            </a:r>
            <a:r>
              <a:rPr dirty="0"/>
              <a:t> </a:t>
            </a:r>
            <a:r>
              <a:rPr dirty="0" err="1"/>
              <a:t>representan</a:t>
            </a:r>
            <a:r>
              <a:rPr dirty="0"/>
              <a:t> </a:t>
            </a:r>
            <a:r>
              <a:rPr dirty="0" err="1"/>
              <a:t>menos</a:t>
            </a:r>
            <a:r>
              <a:rPr dirty="0"/>
              <a:t> del 0.3% y </a:t>
            </a:r>
            <a:r>
              <a:rPr dirty="0" err="1"/>
              <a:t>atienden</a:t>
            </a:r>
            <a:r>
              <a:rPr dirty="0"/>
              <a:t> a </a:t>
            </a:r>
            <a:r>
              <a:rPr dirty="0" err="1"/>
              <a:t>normas</a:t>
            </a:r>
            <a:r>
              <a:rPr dirty="0"/>
              <a:t> </a:t>
            </a:r>
            <a:r>
              <a:rPr dirty="0" err="1"/>
              <a:t>legales</a:t>
            </a:r>
            <a:r>
              <a:rPr dirty="0"/>
              <a:t> de </a:t>
            </a:r>
            <a:r>
              <a:rPr dirty="0" err="1"/>
              <a:t>acceso</a:t>
            </a:r>
            <a:r>
              <a:rPr dirty="0"/>
              <a:t>, no a pricing.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VALIDACION</a:t>
            </a: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7 TAGS</a:t>
            </a:r>
            <a:endParaRPr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3b_boxplots_bivari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120640" cy="281635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6916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1783080"/>
            <a:ext cx="4754880" cy="2495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PALCO y VIP </a:t>
            </a:r>
            <a:r>
              <a:rPr dirty="0" err="1"/>
              <a:t>registran</a:t>
            </a:r>
            <a:r>
              <a:rPr dirty="0"/>
              <a:t> las </a:t>
            </a:r>
            <a:r>
              <a:rPr dirty="0" err="1"/>
              <a:t>medianas</a:t>
            </a:r>
            <a:r>
              <a:rPr dirty="0"/>
              <a:t> de </a:t>
            </a:r>
            <a:r>
              <a:rPr dirty="0" err="1"/>
              <a:t>peso_aforo</a:t>
            </a:r>
            <a:r>
              <a:rPr dirty="0"/>
              <a:t> mas </a:t>
            </a:r>
            <a:r>
              <a:rPr dirty="0" err="1"/>
              <a:t>reducidas</a:t>
            </a:r>
            <a:r>
              <a:rPr dirty="0"/>
              <a:t> del </a:t>
            </a:r>
            <a:r>
              <a:rPr dirty="0" err="1"/>
              <a:t>catalogo</a:t>
            </a:r>
            <a:r>
              <a:rPr dirty="0"/>
              <a:t> (9.8% y 15.9% del venue), </a:t>
            </a:r>
            <a:r>
              <a:rPr dirty="0" err="1"/>
              <a:t>manteniendo</a:t>
            </a:r>
            <a:r>
              <a:rPr dirty="0"/>
              <a:t> ratios de </a:t>
            </a:r>
            <a:r>
              <a:rPr dirty="0" err="1"/>
              <a:t>precio</a:t>
            </a:r>
            <a:r>
              <a:rPr dirty="0"/>
              <a:t> con </a:t>
            </a:r>
            <a:r>
              <a:rPr dirty="0" err="1"/>
              <a:t>maximos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1.0 y </a:t>
            </a:r>
            <a:r>
              <a:rPr dirty="0" err="1"/>
              <a:t>precio</a:t>
            </a:r>
            <a:r>
              <a:rPr dirty="0"/>
              <a:t> </a:t>
            </a:r>
            <a:r>
              <a:rPr dirty="0" err="1"/>
              <a:t>mediano</a:t>
            </a:r>
            <a:r>
              <a:rPr dirty="0"/>
              <a:t> de $108k y $190k. PREFERENCIAL y PLATEA </a:t>
            </a:r>
            <a:r>
              <a:rPr dirty="0" err="1"/>
              <a:t>registran</a:t>
            </a:r>
            <a:r>
              <a:rPr dirty="0"/>
              <a:t> ratios de </a:t>
            </a:r>
            <a:r>
              <a:rPr dirty="0" err="1"/>
              <a:t>precio</a:t>
            </a:r>
            <a:r>
              <a:rPr dirty="0"/>
              <a:t> de 0.80 con </a:t>
            </a:r>
            <a:r>
              <a:rPr dirty="0" err="1"/>
              <a:t>aforos</a:t>
            </a:r>
            <a:r>
              <a:rPr dirty="0"/>
              <a:t> </a:t>
            </a:r>
            <a:r>
              <a:rPr dirty="0" err="1"/>
              <a:t>medios</a:t>
            </a:r>
            <a:r>
              <a:rPr dirty="0"/>
              <a:t> (19% a 23%). GENERAL </a:t>
            </a:r>
            <a:r>
              <a:rPr dirty="0" err="1"/>
              <a:t>concentra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95.3% de </a:t>
            </a:r>
            <a:r>
              <a:rPr dirty="0" err="1"/>
              <a:t>aforo</a:t>
            </a:r>
            <a:r>
              <a:rPr dirty="0"/>
              <a:t> y $15k de </a:t>
            </a:r>
            <a:r>
              <a:rPr dirty="0" err="1"/>
              <a:t>precio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1. La </a:t>
            </a:r>
            <a:r>
              <a:rPr dirty="0" err="1"/>
              <a:t>semantica</a:t>
            </a:r>
            <a:r>
              <a:rPr dirty="0"/>
              <a:t> NLP se </a:t>
            </a:r>
            <a:r>
              <a:rPr dirty="0" err="1"/>
              <a:t>alinea</a:t>
            </a:r>
            <a:r>
              <a:rPr dirty="0"/>
              <a:t> con la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fisica</a:t>
            </a:r>
            <a:r>
              <a:rPr dirty="0"/>
              <a:t>: </a:t>
            </a:r>
            <a:r>
              <a:rPr dirty="0" err="1"/>
              <a:t>los</a:t>
            </a:r>
            <a:r>
              <a:rPr dirty="0"/>
              <a:t> </a:t>
            </a:r>
            <a:r>
              <a:rPr dirty="0" err="1"/>
              <a:t>palcos</a:t>
            </a:r>
            <a:r>
              <a:rPr dirty="0"/>
              <a:t> </a:t>
            </a:r>
            <a:r>
              <a:rPr dirty="0" err="1"/>
              <a:t>ocupan</a:t>
            </a:r>
            <a:r>
              <a:rPr dirty="0"/>
              <a:t> </a:t>
            </a:r>
            <a:r>
              <a:rPr dirty="0" err="1"/>
              <a:t>fracciones</a:t>
            </a:r>
            <a:r>
              <a:rPr dirty="0"/>
              <a:t> </a:t>
            </a:r>
            <a:r>
              <a:rPr dirty="0" err="1"/>
              <a:t>minimas</a:t>
            </a:r>
            <a:r>
              <a:rPr dirty="0"/>
              <a:t> de </a:t>
            </a:r>
            <a:r>
              <a:rPr dirty="0" err="1"/>
              <a:t>aforo</a:t>
            </a:r>
            <a:r>
              <a:rPr dirty="0"/>
              <a:t> y las </a:t>
            </a:r>
            <a:r>
              <a:rPr dirty="0" err="1"/>
              <a:t>generales</a:t>
            </a:r>
            <a:r>
              <a:rPr dirty="0"/>
              <a:t> </a:t>
            </a:r>
            <a:r>
              <a:rPr dirty="0" err="1"/>
              <a:t>absorben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volumen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2. Las </a:t>
            </a:r>
            <a:r>
              <a:rPr dirty="0" err="1"/>
              <a:t>plateas</a:t>
            </a:r>
            <a:r>
              <a:rPr dirty="0"/>
              <a:t> se </a:t>
            </a:r>
            <a:r>
              <a:rPr dirty="0" err="1"/>
              <a:t>ubican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rango</a:t>
            </a:r>
            <a:r>
              <a:rPr dirty="0"/>
              <a:t> superior de </a:t>
            </a:r>
            <a:r>
              <a:rPr dirty="0" err="1"/>
              <a:t>precios</a:t>
            </a:r>
            <a:r>
              <a:rPr dirty="0"/>
              <a:t> ($95k), </a:t>
            </a:r>
            <a:r>
              <a:rPr dirty="0" err="1"/>
              <a:t>consolidandose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escalon</a:t>
            </a:r>
            <a:r>
              <a:rPr dirty="0"/>
              <a:t> </a:t>
            </a:r>
            <a:r>
              <a:rPr dirty="0" err="1"/>
              <a:t>intermedio</a:t>
            </a:r>
            <a:r>
              <a:rPr dirty="0"/>
              <a:t>-alto.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3. Los </a:t>
            </a:r>
            <a:r>
              <a:rPr dirty="0" err="1"/>
              <a:t>balcones</a:t>
            </a:r>
            <a:r>
              <a:rPr dirty="0"/>
              <a:t> </a:t>
            </a:r>
            <a:r>
              <a:rPr dirty="0" err="1"/>
              <a:t>registran</a:t>
            </a:r>
            <a:r>
              <a:rPr dirty="0"/>
              <a:t> </a:t>
            </a:r>
            <a:r>
              <a:rPr dirty="0" err="1"/>
              <a:t>sistematicamente</a:t>
            </a:r>
            <a:r>
              <a:rPr dirty="0"/>
              <a:t> </a:t>
            </a:r>
            <a:r>
              <a:rPr dirty="0" err="1"/>
              <a:t>precios</a:t>
            </a:r>
            <a:r>
              <a:rPr dirty="0"/>
              <a:t> </a:t>
            </a:r>
            <a:r>
              <a:rPr dirty="0" err="1"/>
              <a:t>moderados</a:t>
            </a:r>
            <a:r>
              <a:rPr dirty="0"/>
              <a:t> ($56k), </a:t>
            </a:r>
            <a:r>
              <a:rPr dirty="0" err="1"/>
              <a:t>validando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rol</a:t>
            </a:r>
            <a:r>
              <a:rPr dirty="0"/>
              <a:t> </a:t>
            </a:r>
            <a:r>
              <a:rPr dirty="0" err="1"/>
              <a:t>accesible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teatro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rPr dirty="0">
                <a:solidFill>
                  <a:schemeClr val="tx1">
                    <a:lumMod val="75000"/>
                    <a:lumOff val="25000"/>
                  </a:schemeClr>
                </a:solidFill>
              </a:rPr>
              <a:t>ANALISIS DE CORRELACIONES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539496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fig4_correlacio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783080"/>
            <a:ext cx="5120640" cy="39827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09360" y="1691640"/>
            <a:ext cx="5120640" cy="457200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2319108"/>
            <a:ext cx="4754880" cy="23339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La </a:t>
            </a:r>
            <a:r>
              <a:rPr dirty="0" err="1"/>
              <a:t>matriz</a:t>
            </a:r>
            <a:r>
              <a:rPr dirty="0"/>
              <a:t> de Pearson </a:t>
            </a:r>
            <a:r>
              <a:rPr dirty="0" err="1"/>
              <a:t>evalua</a:t>
            </a:r>
            <a:r>
              <a:rPr dirty="0"/>
              <a:t> </a:t>
            </a:r>
            <a:r>
              <a:rPr dirty="0" err="1"/>
              <a:t>relaciones</a:t>
            </a:r>
            <a:r>
              <a:rPr dirty="0"/>
              <a:t> </a:t>
            </a:r>
            <a:r>
              <a:rPr dirty="0" err="1"/>
              <a:t>lineales</a:t>
            </a:r>
            <a:r>
              <a:rPr dirty="0"/>
              <a:t> entre dinero nominal </a:t>
            </a:r>
            <a:r>
              <a:rPr dirty="0" err="1"/>
              <a:t>en</a:t>
            </a:r>
            <a:r>
              <a:rPr dirty="0"/>
              <a:t> COP (</a:t>
            </a:r>
            <a:r>
              <a:rPr dirty="0" err="1"/>
              <a:t>med_unit_amt_itx</a:t>
            </a:r>
            <a:r>
              <a:rPr dirty="0"/>
              <a:t>), ratios de </a:t>
            </a:r>
            <a:r>
              <a:rPr dirty="0" err="1"/>
              <a:t>precio</a:t>
            </a:r>
            <a:r>
              <a:rPr dirty="0"/>
              <a:t> (</a:t>
            </a:r>
            <a:r>
              <a:rPr dirty="0" err="1"/>
              <a:t>ratio_precio_max</a:t>
            </a:r>
            <a:r>
              <a:rPr dirty="0"/>
              <a:t>, </a:t>
            </a:r>
            <a:r>
              <a:rPr dirty="0" err="1"/>
              <a:t>ratio_precio_mean</a:t>
            </a:r>
            <a:r>
              <a:rPr dirty="0"/>
              <a:t>, </a:t>
            </a:r>
            <a:r>
              <a:rPr dirty="0" err="1"/>
              <a:t>percentil_precio_evento</a:t>
            </a:r>
            <a:r>
              <a:rPr dirty="0"/>
              <a:t>), </a:t>
            </a:r>
            <a:r>
              <a:rPr dirty="0" err="1"/>
              <a:t>capacidad</a:t>
            </a:r>
            <a:r>
              <a:rPr dirty="0"/>
              <a:t> </a:t>
            </a:r>
            <a:r>
              <a:rPr dirty="0" err="1"/>
              <a:t>fisica</a:t>
            </a:r>
            <a:r>
              <a:rPr dirty="0"/>
              <a:t> (</a:t>
            </a:r>
            <a:r>
              <a:rPr dirty="0" err="1"/>
              <a:t>dn_quota</a:t>
            </a:r>
            <a:r>
              <a:rPr dirty="0"/>
              <a:t>, </a:t>
            </a:r>
            <a:r>
              <a:rPr dirty="0" err="1"/>
              <a:t>peso_aforo</a:t>
            </a:r>
            <a:r>
              <a:rPr dirty="0"/>
              <a:t>) y </a:t>
            </a:r>
            <a:r>
              <a:rPr dirty="0" err="1"/>
              <a:t>rendimiento</a:t>
            </a:r>
            <a:r>
              <a:rPr dirty="0"/>
              <a:t> (</a:t>
            </a:r>
            <a:r>
              <a:rPr dirty="0" err="1"/>
              <a:t>tasa_ocupacion</a:t>
            </a:r>
            <a:r>
              <a:rPr dirty="0"/>
              <a:t>, </a:t>
            </a:r>
            <a:r>
              <a:rPr dirty="0" err="1"/>
              <a:t>tasa_venta_paga</a:t>
            </a:r>
            <a:r>
              <a:rPr dirty="0"/>
              <a:t>, </a:t>
            </a:r>
            <a:r>
              <a:rPr dirty="0" err="1"/>
              <a:t>ratio_cortesias</a:t>
            </a:r>
            <a:r>
              <a:rPr dirty="0"/>
              <a:t>).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endParaRPr lang="en-US" dirty="0"/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1. </a:t>
            </a:r>
            <a:r>
              <a:rPr dirty="0" err="1"/>
              <a:t>Correlacion</a:t>
            </a:r>
            <a:r>
              <a:rPr dirty="0"/>
              <a:t> Nula con </a:t>
            </a:r>
            <a:r>
              <a:rPr dirty="0" err="1"/>
              <a:t>el</a:t>
            </a:r>
            <a:r>
              <a:rPr dirty="0"/>
              <a:t> Dinero Nominal: r(</a:t>
            </a:r>
            <a:r>
              <a:rPr dirty="0" err="1"/>
              <a:t>med_unit_amt_itx</a:t>
            </a:r>
            <a:r>
              <a:rPr dirty="0"/>
              <a:t>, </a:t>
            </a:r>
            <a:r>
              <a:rPr dirty="0" err="1"/>
              <a:t>ratio_precio_max</a:t>
            </a:r>
            <a:r>
              <a:rPr dirty="0"/>
              <a:t>) = -0.034. El dinero </a:t>
            </a:r>
            <a:r>
              <a:rPr dirty="0" err="1"/>
              <a:t>en</a:t>
            </a:r>
            <a:r>
              <a:rPr dirty="0"/>
              <a:t> pesos COP es </a:t>
            </a:r>
            <a:r>
              <a:rPr dirty="0" err="1"/>
              <a:t>independiente</a:t>
            </a:r>
            <a:r>
              <a:rPr dirty="0"/>
              <a:t> de la </a:t>
            </a:r>
            <a:r>
              <a:rPr dirty="0" err="1"/>
              <a:t>exclusividad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dirty="0"/>
              <a:t>2. </a:t>
            </a:r>
            <a:r>
              <a:rPr dirty="0" err="1"/>
              <a:t>Relacion</a:t>
            </a:r>
            <a:r>
              <a:rPr dirty="0"/>
              <a:t> </a:t>
            </a:r>
            <a:r>
              <a:rPr dirty="0" err="1"/>
              <a:t>Negativa</a:t>
            </a:r>
            <a:r>
              <a:rPr dirty="0"/>
              <a:t> de </a:t>
            </a:r>
            <a:r>
              <a:rPr dirty="0" err="1"/>
              <a:t>Aforo</a:t>
            </a:r>
            <a:r>
              <a:rPr dirty="0"/>
              <a:t> y </a:t>
            </a:r>
            <a:r>
              <a:rPr dirty="0" err="1"/>
              <a:t>Precio</a:t>
            </a:r>
            <a:r>
              <a:rPr dirty="0"/>
              <a:t>: r(</a:t>
            </a:r>
            <a:r>
              <a:rPr dirty="0" err="1"/>
              <a:t>peso_aforo</a:t>
            </a:r>
            <a:r>
              <a:rPr dirty="0"/>
              <a:t>, </a:t>
            </a:r>
            <a:r>
              <a:rPr dirty="0" err="1"/>
              <a:t>med_unit_amt_itx</a:t>
            </a:r>
            <a:r>
              <a:rPr dirty="0"/>
              <a:t>) = -0.247 y r(</a:t>
            </a:r>
            <a:r>
              <a:rPr dirty="0" err="1"/>
              <a:t>peso_aforo</a:t>
            </a:r>
            <a:r>
              <a:rPr dirty="0"/>
              <a:t>, </a:t>
            </a:r>
            <a:r>
              <a:rPr dirty="0" err="1"/>
              <a:t>tasa_ocupacion</a:t>
            </a:r>
            <a:r>
              <a:rPr dirty="0"/>
              <a:t>) = -0.331.</a:t>
            </a:r>
          </a:p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  <a:latin typeface="Montserrat"/>
              </a:defRPr>
            </a:pPr>
            <a:r>
              <a:rPr lang="es-CO" dirty="0"/>
              <a:t>3. </a:t>
            </a:r>
            <a:r>
              <a:rPr dirty="0" err="1"/>
              <a:t>Todas</a:t>
            </a:r>
            <a:r>
              <a:rPr dirty="0"/>
              <a:t> las variables </a:t>
            </a:r>
            <a:r>
              <a:rPr dirty="0" err="1"/>
              <a:t>presentan</a:t>
            </a:r>
            <a:r>
              <a:rPr dirty="0"/>
              <a:t> </a:t>
            </a:r>
            <a:r>
              <a:rPr dirty="0" err="1"/>
              <a:t>correlaciones</a:t>
            </a:r>
            <a:r>
              <a:rPr dirty="0"/>
              <a:t> |r| &lt; 0.85, </a:t>
            </a:r>
            <a:r>
              <a:rPr dirty="0" err="1"/>
              <a:t>garantizando</a:t>
            </a:r>
            <a:r>
              <a:rPr dirty="0"/>
              <a:t> </a:t>
            </a:r>
            <a:r>
              <a:rPr dirty="0" err="1"/>
              <a:t>complementariedad</a:t>
            </a:r>
            <a:r>
              <a:rPr dirty="0"/>
              <a:t> </a:t>
            </a:r>
            <a:r>
              <a:rPr dirty="0" err="1"/>
              <a:t>en</a:t>
            </a:r>
            <a:r>
              <a:rPr dirty="0"/>
              <a:t> </a:t>
            </a:r>
            <a:r>
              <a:rPr dirty="0" err="1"/>
              <a:t>el</a:t>
            </a:r>
            <a:r>
              <a:rPr dirty="0"/>
              <a:t> </a:t>
            </a:r>
            <a:r>
              <a:rPr dirty="0" err="1"/>
              <a:t>espacio</a:t>
            </a:r>
            <a:r>
              <a:rPr dirty="0"/>
              <a:t> vectorial.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173736"/>
            <a:ext cx="74615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  <a:latin typeface="Montserrat"/>
              </a:defRPr>
            </a:pPr>
            <a:r>
              <a:t>DETALLE DE CONCLUSIONES: CORRELACIONES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1. Independencia del Dinero en COP (r = -0.034)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- Falacia del Valor Absoluto: Una boleta de $150k COP es General en concierto de estadio de Karol G (percentil 0.15), pero Platea VIP en obra de teatro (percentil 1.00).</a:t>
            </a:r>
            <a:br/>
            <a:r>
              <a:t>- Beneficio Machine Learning: Las metricas relativas vuelven al modelo invariante a la inflacion, al tipo de show y al tamano del 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2. Ley de Oferta y Demanda en el Aforo (r = -0.247)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- Principio de Escasez: Palcos y VIPs ocupan entre 1% y 10% del venue, permitiendo fijar precios maximos.</a:t>
            </a:r>
            <a:br/>
            <a:r>
              <a:t>- Economias de Escala Masiva: Gradas generales ocupan 30% a 60% del venue y requieren precios populares para llenar masa critica.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91640"/>
            <a:ext cx="338328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7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0" y="1874519"/>
            <a:ext cx="3017520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B2545"/>
                </a:solidFill>
                <a:latin typeface="Montserrat"/>
              </a:defRPr>
            </a:pPr>
            <a:r>
              <a:t>3. No Redundancia y Distancia Euclidiana (|r| &lt; 0.85)</a:t>
            </a:r>
          </a:p>
          <a:p>
            <a:pPr>
              <a:defRPr sz="1200">
                <a:solidFill>
                  <a:srgbClr val="212529"/>
                </a:solidFill>
                <a:latin typeface="Montserrat"/>
              </a:defRPr>
            </a:pPr>
            <a:r>
              <a:t>- ratio_precio_max vs percentil_precio (r = 0.848): ratio aporta magnitud cardinal (%) y percentil aporta orden jerarquico ordinal.</a:t>
            </a:r>
            <a:br/>
            <a:r>
              <a:t>- Previene sesgos por multicolinealidad en la distancia euclidiana de K-Means.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46562</TotalTime>
  <Words>3286</Words>
  <Application>Microsoft Macintosh PowerPoint</Application>
  <PresentationFormat>Panorámica</PresentationFormat>
  <Paragraphs>136</Paragraphs>
  <Slides>21</Slides>
  <Notes>1</Notes>
  <HiddenSlides>3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Tema de Office</vt:lpstr>
      <vt:lpstr>Analisis Exploratorio de Datos (EDA)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Hot Seat</dc:title>
  <dc:creator>Nicolas Paz</dc:creator>
  <cp:lastModifiedBy>Valentina Londoño Ramirez</cp:lastModifiedBy>
  <cp:revision>42</cp:revision>
  <dcterms:created xsi:type="dcterms:W3CDTF">2025-02-26T14:42:43Z</dcterms:created>
  <dcterms:modified xsi:type="dcterms:W3CDTF">2026-08-31T02:42:32Z</dcterms:modified>
</cp:coreProperties>
</file>