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09688"/>
                </a:solidFill>
              </a:defRPr>
            </a:pPr>
            <a:r>
              <a:t>TUBOLETA  DATA SCIENCE &amp; MACHINE LEARNING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Analisis Exploratorio de Datos (EDA)</a:t>
            </a:r>
            <a:br/>
            <a:r>
              <a:t>y Segmentacion de Localidades</a:t>
            </a:r>
          </a:p>
          <a:p>
            <a:pPr>
              <a:spcAft>
                <a:spcPts val="2400"/>
              </a:spcAft>
              <a:defRPr sz="1500">
                <a:solidFill>
                  <a:srgbClr val="C8D7E6"/>
                </a:solidFill>
              </a:defRPr>
            </a:pPr>
            <a:r>
              <a:t>Estandarizacion de Localidades mediante Espacio Vectorial Mixto (NLP + Metricas Relativas por Evento)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Pipeline Version 2.0 | Dataset: 33,878 Localidades Certificadas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Contexto de Negocio: El Desafio de la Heterogeneidad de Localidades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</a:defRPr>
            </a:pPr>
            <a:r>
              <a:t>1. La Trampa del Nombre Comercial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Mas de 2,400 nombres diferentes creados por promotores con ruido publicitario y nombres de gira (ej. Palcos Cantinero, Modo Leyenda, Experiencia Platino).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</a:defRPr>
            </a:pPr>
            <a:r>
              <a:t>2. Distorsion de Escala en Pesos COP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Una boleta de $150,000 COP representa el acceso mas economico (General) en un estadio masivo, pero la entrada mas exclusiva (VIP) en un teatro intimo.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</a:defRPr>
            </a:pPr>
            <a:r>
              <a:t>3. Similitud Lexica Enganosa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Localidades como Occidental Alta Oro y Occidental Alta Plata son 90% similares en texto, pero tienen jerarquias de precio y perfiles de comprador opuestos.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Arquitectura de la Solucion: Pipeline de Espacio Vectorial Mixto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</a:defRPr>
            </a:pPr>
            <a:r>
              <a:t>Modulo 1: Descomposicion NLP (src.nlp_utils)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- Supresion de ruido publicitario (stopwords de gira y patrocinios).</a:t>
            </a:r>
            <a:br/>
            <a:r>
              <a:t>- Extraccion de 17 variables binarias estructurales, espaciales y restricciones.</a:t>
            </a:r>
            <a:br/>
            <a:r>
              <a:t>- Vectorizacion TF-IDF estructurada sobre texto limpio.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</a:defRPr>
            </a:pPr>
            <a:r>
              <a:t>Modulo 2: Metricas Relativas por Evento (src.feature_engineering)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- percentil_precio_evento (0.0 a 1.0) para medir jerarquia interna.</a:t>
            </a:r>
            <a:br/>
            <a:r>
              <a:t>- ratio_precio_max (P / P_max) normalizado por funcion.</a:t>
            </a:r>
            <a:br/>
            <a:r>
              <a:t>- peso_aforo (dn_quota / performance_quota) para escala de capacidad.</a:t>
            </a:r>
            <a:br/>
            <a:r>
              <a:t>- tasa_ocupacion y rotacion de demanda historica.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6984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73168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</a:defRPr>
            </a:pPr>
            <a:r>
              <a:t>Modulo 3: FUSION VECTORIAL Y CLUSTERING (src.clustering)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- Ensamble del espacio vectorial mixto X en R^(33,878 x 37).</a:t>
            </a:r>
            <a:br/>
            <a:r>
              <a:t>- Evaluacion de numero optimo de clusters con Silueta, Inercia y Davies-Bouldin.</a:t>
            </a:r>
            <a:br/>
            <a:r>
              <a:t>- Asignacion automatica a 4 Arquetipos Universales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Grafico 1: Descomposicion NLP y Extraccion de Atributos Estructurales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tags_frecu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212080" cy="2606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34074"/>
                </a:solidFill>
              </a:defRPr>
            </a:pPr>
            <a:r>
              <a:t>ANALISIS DE DATOS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</a:defRPr>
            </a:pPr>
            <a:r>
              <a:t>De las 33,878 localidades evaluadas, la etiqueta mas frecuente es tag_general con 15,386 apariciones (45.4%), seguida de niveles de teatro y recintos cerrados como tag_balcon (4,319), tag_platea (4,037) y tag_palco (3,581). En el ambito espacial, las orientaciones predominantes son tag_occidental (1,004) y tag_norte (810).</a:t>
            </a:r>
          </a:p>
          <a:p>
            <a:pPr>
              <a:spcAft>
                <a:spcPts val="400"/>
              </a:spcAft>
              <a:defRPr sz="1100" b="1">
                <a:solidFill>
                  <a:srgbClr val="009688"/>
                </a:solidFill>
              </a:defRPr>
            </a:pPr>
            <a:r>
              <a:t>TRES CONCLUSIONES CLAVE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1. Predominio de Localidades Masivas: Casi la mitad del inventario corresponde a admision general, lo que exige diferenciar una general de estadio frente a una de teatro.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2. Alta Especializacion en Teatros y Arenas: Mas de 11,900 registros corresponden a balcones, plateas y palcos con distribucion vertical escalonada.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3. Efectividad del Pipeline Regex/NER: La deteccion de 17 etiquetas permitio convertir texto libre en variables numericas estructuradas de jerarquia, orientacion y restricciones.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Grafico 2: Distribucion de Variables Relativas Normalizadas por Evento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distribu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212080" cy="36484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34074"/>
                </a:solidFill>
              </a:defRPr>
            </a:pPr>
            <a:r>
              <a:t>ANALISIS DE DATOS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</a:defRPr>
            </a:pPr>
            <a:r>
              <a:t>El ratio_precio_max presenta una concentracion alta en 1.0 (mediana = 1.0, media = 0.803). El peso_aforo muestra una clara bimodalidad: una concentracion de zonas exclusivas de aforo reducido (percentil 25 = 0.096, menos del 10% del venue) frente a eventos de admision unica. La tasa_ocupacion media es de 18.1% (mediana = 10.8%).</a:t>
            </a:r>
          </a:p>
          <a:p>
            <a:pPr>
              <a:spcAft>
                <a:spcPts val="400"/>
              </a:spcAft>
              <a:defRPr sz="1100" b="1">
                <a:solidFill>
                  <a:srgbClr val="009688"/>
                </a:solidFill>
              </a:defRPr>
            </a:pPr>
            <a:r>
              <a:t>TRES CONCLUSIONES CLAVE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1. Desacople Exitoso de la Moneda: La escala 0.0 a 1.0 permite comparar precios de festivales masivos con teatros locales bajo la misma regla de exclusividad.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2. Identificacion Inmediata de Zonas Selectas: El 25% de las localidades ocupan menos del 10% del aforo total, constituyendo candidatas naturales a VIP o palcos.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3. Comportamiento Comercial Asimetrico: La ocupacion historica introduce una dimension de velocidad de demanda que diferencia zonas de alta rotacion de zonas con remanente.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Grafico 3: Comparacion Bivariada de Precio Relativo y Aforo por Atributo NLP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boxplots_bivari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212080" cy="2606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34074"/>
                </a:solidFill>
              </a:defRPr>
            </a:pPr>
            <a:r>
              <a:t>ANALISIS DE DATOS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</a:defRPr>
            </a:pPr>
            <a:r>
              <a:t>PALCO y VIP registran las medianas de peso_aforo mas reducidas del catalogo (4.0% y 4.4% del venue), manteniendo ratios de precio promedio de 0.685 y 0.676 con maximos en 1.0. PREFERENCIAL y PLATEA registran ratios de precio medianos de 0.923 y 0.875 con aforos medios (15.7% a 17.4%). BALCON presenta el precio mas accesible de teatro (ratio medio 0.503).</a:t>
            </a:r>
          </a:p>
          <a:p>
            <a:pPr>
              <a:spcAft>
                <a:spcPts val="400"/>
              </a:spcAft>
              <a:defRPr sz="1100" b="1">
                <a:solidFill>
                  <a:srgbClr val="009688"/>
                </a:solidFill>
              </a:defRPr>
            </a:pPr>
            <a:r>
              <a:t>TRES CONCLUSIONES CLAVE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1. Confirmacion de Jerarquia Fisica: La semantica NLP se alinea con la capacidad fisica: los palcos ocupan fracciones minimas de aforo y las generales absorben el volumen.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2. Validacion de la Platea como Zona Preferente: Las plateas se ubican en el rango superior de precios, consolidandose como el escalon intermedio-alto de demanda.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3. El Balcon como Opcion Popular de Recinto Cerrado: Los balcones registran sistematicamente un precio 50% menor a la platea del mismo show, validando su rol accesible.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Grafico 4: Matriz de Correlaciones Numéricas y Ratios Estructurales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212080" cy="3909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34074"/>
                </a:solidFill>
              </a:defRPr>
            </a:pPr>
            <a:r>
              <a:t>ANALISIS DE DATOS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</a:defRPr>
            </a:pPr>
            <a:r>
              <a:t>La correlacion entre el precio nominal en COP (med_unit_amt_itx) y el ratio_precio_max es nula (r = -0.034), demostrando que el dinero nominal no refleja exclusividad. El peso_aforo correlaciona negativamente con ratio_precio_max (r = -0.248) y ratio_cortesias (r = -0.250). La tasa de ocupacion correlaciona fuertemente con ventas pagas (r = 0.82).</a:t>
            </a:r>
          </a:p>
          <a:p>
            <a:pPr>
              <a:spcAft>
                <a:spcPts val="400"/>
              </a:spcAft>
              <a:defRPr sz="1100" b="1">
                <a:solidFill>
                  <a:srgbClr val="009688"/>
                </a:solidFill>
              </a:defRPr>
            </a:pPr>
            <a:r>
              <a:t>TRES CONCLUSIONES CLAVE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1. Independencia del Precio Nominal: Al tener correlacion cercana a cero con los ratios relativos, se ratifica que usar el precio en COP aisladamente distorsionaba la segmentacion.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2. Ley de Oferta y Demanda en el Aforo: A mayor peso de aforo de una localidad dentro del show, menor tiende a ser su ratio de precio relativo.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3. No Redundancia en el Espacio Mixto: Ninguna pareja de variables estructurales presenta colinealidad perfecta (|r| &lt; 0.85), garantizando informacion complementaria para el clustering.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Grafico 5: Mapa de Separabilidad Espacial (Cuadrantes de Demanda)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cuadrantes_dem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212080" cy="3127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34074"/>
                </a:solidFill>
              </a:defRPr>
            </a:pPr>
            <a:r>
              <a:t>ANALISIS DE DATOS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</a:defRPr>
            </a:pPr>
            <a:r>
              <a:t>El scatter plot 2D proyecta la separacion en 4 cuadrantes: Superior Izquierdo (Bajo Aforo &lt; 25%, Alto Precio &gt; 0.5) con palcos y VIP de alta ocupacion; Inferior Izquierdo (Bajo Aforo, Bajo Precio) con balcones y vistas restringidas; Superior Derecho con preferenciales masivas; e Inferior Derecho con gradas generales y masivas.</a:t>
            </a:r>
          </a:p>
          <a:p>
            <a:pPr>
              <a:spcAft>
                <a:spcPts val="400"/>
              </a:spcAft>
              <a:defRPr sz="1100" b="1">
                <a:solidFill>
                  <a:srgbClr val="009688"/>
                </a:solidFill>
              </a:defRPr>
            </a:pPr>
            <a:r>
              <a:t>TRES CONCLUSIONES CLAVE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1. Separabilidad Geometrica Evidente: Los datos forman cuatro concentraciones espaciales que validan matematicamente el uso de algoritmos basados en distancias (K-Means).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2. Diferenciacion por Demanda (Ocupacion): La escala de color evidencia que las zonas del cuadrante superior izquierdo presentan las mayores tasas de agotamiento de boleteria.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3. Soporte Visual para Decisiones de Negocio: Permite a pricing y operaciones ubicar cualquier nueva localidad en el espacio cartesiano y predecir su arquetipo.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Segmentacion Final: Los 4 Arquetipos Universales de Demanda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</a:defRPr>
            </a:pPr>
            <a:r>
              <a:t>VIP / Palcos / Premium [1,919 (5.7%) del catalogo]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Perfil: Ratio Precio: 0.72 | Aforo: 19.1% | Ocupacion: 69.7%  |  Ejemplos: Palcos, Mesas VIP, Boxes, Suites, Experiencia Platino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3347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</a:defRPr>
            </a:pPr>
            <a:r>
              <a:t>Preferencial / Platea Frontal [5,759 (17.0%) del catalogo]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Perfil: Ratio Precio: 0.74 | Aforo: 22.2% | Ocupacion: 40.9%  |  Ejemplos: Platea 1, Platea 2, Preferencial Delantera, Sillas Centrales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22191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</a:defRPr>
            </a:pPr>
            <a:r>
              <a:t>Grada General / Masiva [17,182 (50.7%) del catalogo]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Perfil: Ratio Precio: 0.99 | Aforo: 89.3% | Ocupacion: 9.1%  |  Ejemplos: General, Entrada Unica, Tiquete Full, Admision General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1091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</a:defRPr>
            </a:pPr>
            <a:r>
              <a:t>Popular / Visibilidad Parcial / Balcon [9,018 (26.6%) del catalogo]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Perfil: Ratio Precio: 0.49 | Aforo: 18.3% | Ocupacion: 10.0%  |  Ejemplos: Platea Posterior, Balcon Mayor, 2do Balcon, Vista Parcial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9688"/>
                </a:solidFill>
              </a:defRPr>
            </a:pPr>
            <a:r>
              <a:t>ANALISIS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B2545"/>
                </a:solidFill>
              </a:defRPr>
            </a:pPr>
            <a:r>
              <a:t>Conclusiones del EDA y Siguientes Pasos de Modelado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B2545"/>
                </a:solidFill>
              </a:defRPr>
            </a:pPr>
            <a:r>
              <a:t>Logros del Analisis Exploratorio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1. Se demostro que la normalizacion por evento elimina el sesgo del dinero en COP.</a:t>
            </a:r>
            <a:br/>
            <a:r>
              <a:t>2. Se comprobo que el 81.8% de los VIPs no tienen la palabra VIP en su nombre y se clasifican por fisica de aforo y precio.</a:t>
            </a:r>
            <a:br/>
            <a:r>
              <a:t>3. Se estructuro el espacio mixto en R^(33,878 x 37) sin colinealidad critica (|r| &lt; 0.85).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B2545"/>
                </a:solidFill>
              </a:defRPr>
            </a:pPr>
            <a:r>
              <a:t>Impacto de Negocio para TuBoleta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1. Reportes y Dashboards transversales estandarizados sin depender del promotor.</a:t>
            </a:r>
            <a:br/>
            <a:r>
              <a:t>2. Modelos de elasticidad de precios por arquetipo (VIP vs Preferencial vs General).</a:t>
            </a:r>
            <a:br/>
            <a:r>
              <a:t>3. Deteccion temprana de localidades con baja rotacion para optimizacion de aforo.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B2545"/>
                </a:solidFill>
              </a:defRPr>
            </a:pPr>
            <a:r>
              <a:t>Siguientes Pasos (Fase 3)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1. Ejecutar el cuaderno 02_clustering_espacio_mixto.ipynb para validar K-Means con k=4.</a:t>
            </a:r>
            <a:br/>
            <a:r>
              <a:t>2. Comparar resultados con Gaussian Mixture Models (GMM) para densidades variables.</a:t>
            </a:r>
            <a:br/>
            <a:r>
              <a:t>3. Exportar localidades_clusterizadas.parquet hacia la base analitica de BI.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