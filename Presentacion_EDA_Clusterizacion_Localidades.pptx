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300" r:id="rId3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5656"/>
    <a:srgbClr val="A64444"/>
    <a:srgbClr val="747474"/>
    <a:srgbClr val="AEAEAE"/>
    <a:srgbClr val="000000"/>
    <a:srgbClr val="171717"/>
    <a:srgbClr val="730503"/>
    <a:srgbClr val="EB8181"/>
    <a:srgbClr val="A03836"/>
    <a:srgbClr val="8C18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7C860-5ADA-984C-95B1-EC5540EF2561}" v="1730" dt="2025-06-03T11:13:12.824"/>
    <p1510:client id="{78150E8C-1977-8D54-46D1-76837E65EA46}" v="17" dt="2025-06-03T11:23:37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57"/>
    <p:restoredTop sz="94558"/>
  </p:normalViewPr>
  <p:slideViewPr>
    <p:cSldViewPr snapToGrid="0">
      <p:cViewPr varScale="1">
        <p:scale>
          <a:sx n="121" d="100"/>
          <a:sy n="121" d="100"/>
        </p:scale>
        <p:origin x="10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5FD67-EC71-47D1-90CE-86339F00FC6F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BA357-0328-47D9-8533-190B4B6F8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16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BD0A-E63F-B5BE-2332-104F310CF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56251D4-31A1-ABB9-9F16-8142C4B50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D2B31A-FB35-B52F-AF82-2A0B5D05B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EF299D-8AB3-C0C7-5D94-C86B074E8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6BA357-0328-47D9-8533-190B4B6F8752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717306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7F76A-B1D3-417A-8521-2307E64CE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71F74F3-1A41-5FE7-C026-4C21A6E01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7EF09-EBC1-55E1-498A-5CF71E08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615336-14F5-5DC2-D65B-918FB415F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B2C69B-784F-1484-EAC5-89D3ED54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9044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D9958C-FF82-35D5-D16C-2D1670DE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4AC815-FF7F-7A02-11BF-C62597C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493151-4DA2-7B8B-FD02-7D932EB0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A0197F-DE16-810F-91D9-6C4DFF092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C76A77-8647-AD6A-F639-E8A71410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35287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037E60-3E63-A57B-213C-C69202FC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93DBA7-0974-0350-0D12-5FC8E83FB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176A03-CC7B-336A-7B8C-A7B56B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394BD8-9B63-A7E2-6852-4EAC03B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8CA05F-CAA3-78F6-AAB4-91E0D1EE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1240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C4B83-28B9-19E1-AADC-53E816C0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D168F-AB53-226B-EE1E-CF657BE96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6CFD7F-377C-1913-A477-7C45C59B5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59E6CB-B419-DE97-A883-60809910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D192D90-9D57-FE9A-7860-0E5C648B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B5C3DF-DDDD-7FB3-E148-54EAE537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239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BD944-176A-09E4-8EB5-D5302064C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690F58-99E2-F025-FEDC-DCAA0662C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655F7E-F27E-D259-E532-E5D303237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D3ECA1-EF03-D77F-B325-FF5B5CDF3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93F854-38B7-974D-5FFC-5BC32D9FD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BBD7746-8273-7E43-8C5A-19CD71A1E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4EB7F2-CF86-3D07-978E-42BED0AF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4BEF855-1CBF-7404-E409-F28E505F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33194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67F24-61D2-3D87-D57E-F7E184C68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72E5522-0904-2830-8129-F2A22858D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9006F7-183C-9037-FE82-4513B0C41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36EC8C9-BF28-3371-B3C6-26AF2ECB4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857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DF082E7-EFF7-965D-886D-5ECFBC52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3E3A01-1795-49DE-18C4-E46DB2CCD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80031C-A226-BB82-9F3E-00F0B6EC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19349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7A1C8-F9C6-6943-D132-A751B1842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9649C3-39B5-740E-2928-318F7A8F8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80B87A-52C7-D636-69C3-8F1CF5EAB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8EE230-E45A-1686-D7E3-590160D6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58BA3C-2AEB-3AB5-CB2A-AC0C25C8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57D043-25F4-6482-6AD2-A1BB8E70D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4088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E14FC-3AD3-3608-FAC3-39E54B9D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A3303C-9C5B-60C1-2E0C-A1BB3A698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6BC4CD-C43D-D5A6-61A6-1FBB05737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B24AE5-DF88-43DD-6A28-9328B064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B1A404-0E81-7EC9-7FDD-5BB82BE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9D8146-25B4-52B4-24A7-03E75748E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63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1C30DF-8694-30FF-A7F3-FDD70B4A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8F7C3D2-35E8-D7B5-C92C-B2951E8AB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F7CBAB-FF35-70A3-7C3C-B2AEF759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64445-643D-E38B-BC7D-B9BBFD64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306E5B-1772-DAA5-17BD-3B588B837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8266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5CEEE4-3BCB-5EEF-B9D6-A7D51D446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C574AA-A3AC-56A6-0350-96EC3D9C7F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F1E583-436C-D418-7381-3A6FDA28E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0FB48E-AE98-97BA-A6B5-E02DD780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4799E-7772-E626-11AC-E119E5BC0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09533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7862ADA-D906-8889-78BA-70F965B6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A6FF7BA-B21A-288F-082A-F3FB0BCC2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7624A2-67F2-8817-DDE6-7833677C7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1BA2DB-DD42-A209-E402-625B6C84E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D02E29D-735A-0F44-C5B6-DC44F8E1D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83932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EBE1D-FD1E-E453-25C4-0DDD6C5EF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011680"/>
            <a:ext cx="7772400" cy="1371600"/>
          </a:xfrm>
        </p:spPr>
        <p:txBody>
          <a:bodyPr wrap="square">
            <a:normAutofit/>
          </a:bodyPr>
          <a:lstStyle/>
          <a:p>
            <a:pPr>
              <a:defRPr sz="2800" b="1">
                <a:solidFill>
                  <a:srgbClr val="0B2545"/>
                </a:solidFill>
                <a:latin typeface="Montserrat"/>
              </a:defRPr>
            </a:pPr>
            <a:r>
              <a:t>Clusterizacion y Estandarizacion</a:t>
            </a:r>
            <a:br/>
            <a:r>
              <a:t>de Localidades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2CAB7C-BEB6-A500-41FC-24DFBE7F1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3474720"/>
            <a:ext cx="7772400" cy="548640"/>
          </a:xfrm>
        </p:spPr>
        <p:txBody>
          <a:bodyPr wrap="square">
            <a:normAutofit/>
          </a:bodyPr>
          <a:lstStyle/>
          <a:p>
            <a:pPr>
              <a:defRPr sz="1400" b="0">
                <a:solidFill>
                  <a:srgbClr val="134074"/>
                </a:solidFill>
                <a:latin typeface="Montserrat"/>
              </a:defRPr>
            </a:pPr>
            <a:r>
              <a:t>Analisis Exploratorio de Datos (EDA) | Equipo BI &amp; Data Science</a:t>
            </a:r>
          </a:p>
        </p:txBody>
      </p:sp>
    </p:spTree>
    <p:extLst>
      <p:ext uri="{BB962C8B-B14F-4D97-AF65-F5344CB8AC3E}">
        <p14:creationId xmlns:p14="http://schemas.microsoft.com/office/powerpoint/2010/main" val="2083080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D84AF-EE49-8536-394D-4712FFDE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CONTEXTO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Heterogeneidad de Localidades y Desafios en la Boleteria Tradicional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1. La Trampa del Nombre Comercial</a:t>
            </a:r>
          </a:p>
          <a:p>
            <a:pPr>
              <a:defRPr sz="1300">
                <a:solidFill>
                  <a:srgbClr val="212529"/>
                </a:solidFill>
                <a:latin typeface="Montserrat"/>
              </a:defRPr>
            </a:pPr>
            <a:r>
              <a:t>Mas de 2,400 nombres comerciales diferentes creados por promotores con ruido publicitario y nombres de gira (ej. Palcos Cantinero, Modo Leyenda, Experiencia Platino).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2. Distorsion de Escala en Pesos COP</a:t>
            </a:r>
          </a:p>
          <a:p>
            <a:pPr>
              <a:defRPr sz="1300">
                <a:solidFill>
                  <a:srgbClr val="212529"/>
                </a:solidFill>
                <a:latin typeface="Montserrat"/>
              </a:defRPr>
            </a:pPr>
            <a:r>
              <a:t>Una boleta de $150,000 COP representa el acceso mas economico (General) en un estadio masivo, pero la entrada mas exclusiva (VIP) en un teatro intimo.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3. Similitud Lexica Enganosa</a:t>
            </a:r>
          </a:p>
          <a:p>
            <a:pPr>
              <a:defRPr sz="1300">
                <a:solidFill>
                  <a:srgbClr val="212529"/>
                </a:solidFill>
                <a:latin typeface="Montserrat"/>
              </a:defRPr>
            </a:pPr>
            <a:r>
              <a:t>Localidades como Occidental Alta Oro y Occidental Alta Plata son 90% similares en texto, pero tienen jerarquias de precio y perfiles de comprador opuestos.</a:t>
            </a:r>
          </a:p>
        </p:txBody>
      </p:sp>
    </p:spTree>
    <p:extLst>
      <p:ext uri="{BB962C8B-B14F-4D97-AF65-F5344CB8AC3E}">
        <p14:creationId xmlns:p14="http://schemas.microsoft.com/office/powerpoint/2010/main" val="276265945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ARQUITECTURA DEL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Enfoque Metodologico: Espacio Vectorial Mixto (NLP + Metricas Relativas)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Modulo 1: Descomposicion NLP (src.nlp_utils)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- Supresion de ruido publicitario (stopwords de gira y patrocinios).</a:t>
            </a:r>
            <a:br/>
            <a:r>
              <a:t>- Extraccion de 17 variables binarias estructurales, espaciales y restricciones.</a:t>
            </a:r>
            <a:br/>
            <a:r>
              <a:t>- Vectorizacion TF-IDF estructurada sobre texto limpio.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Modulo 2: Metricas Relativas por Evento (src.feature_engineering)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- percentil_precio_evento (0.0 a 1.0) para medir jerarquia interna del evento.</a:t>
            </a:r>
            <a:br/>
            <a:r>
              <a:t>- ratio_precio_max (P / P_max) normalizado por funcion.</a:t>
            </a:r>
            <a:br/>
            <a:r>
              <a:t>- peso_aforo (dn_quota / performance_quota) para capturar escala de capacidad.</a:t>
            </a:r>
            <a:br/>
            <a:r>
              <a:t>- tasa_ocupacion y absorcion de demanda historica.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0060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Modulo 3: FUSION VECTORIAL Y CLUSTERING (src.clustering)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- Ensamble del espacio vectorial mixto X en R^(33,878 x 37).</a:t>
            </a:r>
            <a:br/>
            <a:r>
              <a:t>- Evaluacion de numero optimo de clusters con Silueta, Inercia y Davies-Bouldin.</a:t>
            </a:r>
            <a:br/>
            <a:r>
              <a:t>- Asignacion automatica a 4 Arquetipos Universales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MODULO 1: DESCOMPOSICION NLP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Grafico 1: Frecuencia de Atributos Estructurales, Espaciales y Restricciones Extraidos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tags_frecu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12064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9164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ANALISIS DE DATOS</a:t>
            </a:r>
          </a:p>
          <a:p>
            <a:pPr>
              <a:spcAft>
                <a:spcPts val="6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De las 33,878 localidades evaluadas, la etiqueta mas frecuente es tag_general con 15,386 apariciones (45.4%), seguida de niveles de teatro y recintos cerrados como tag_balcon (4,319), tag_platea (4,037) y tag_palco (3,581). En el ambito espacial, las orientaciones predominantes son tag_occidental (1,004) y tag_norte (810).</a:t>
            </a:r>
          </a:p>
          <a:p>
            <a:pPr>
              <a:spcAft>
                <a:spcPts val="300"/>
              </a:spcAft>
              <a:defRPr sz="1400" b="1">
                <a:solidFill>
                  <a:srgbClr val="009688"/>
                </a:solidFill>
                <a:latin typeface="Montserrat"/>
              </a:defRPr>
            </a:pPr>
            <a:r>
              <a:t>TRES CONCLUSIONES CLAVE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1. Predominio de Localidades Masivas: Casi la mitad del inventario corresponde a admision general, lo que exige diferenciar una general de estadio frente a una de teatro.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2. Alta Especializacion en Teatros y Arenas: Mas de 11,900 registros corresponden a balcones, plateas y palcos con distribucion vertical escalonada.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3. Efectividad del Pipeline Regex/NER: La deteccion de 17 etiquetas permitio convertir texto libre en variables numericas estructuradas de jerarquia, orientacion y restricciones.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MODULO 2: METRICAS RELATIVAS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Grafico 2: Distribucion de Variables Relativas Normalizadas por Evento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distribu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120640" cy="35844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9164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ANALISIS DE DATOS</a:t>
            </a:r>
          </a:p>
          <a:p>
            <a:pPr>
              <a:spcAft>
                <a:spcPts val="6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El ratio_precio_max presenta una concentracion alta en 1.0 (mediana = 1.0, media = 0.803). El peso_aforo muestra una clara bimodalidad: una concentracion de zonas exclusivas de aforo reducido (percentil 25 = 0.096, menos del 10% del venue) frente a eventos de admision unica. La tasa_ocupacion media es de 18.1% (mediana = 10.8%).</a:t>
            </a:r>
          </a:p>
          <a:p>
            <a:pPr>
              <a:spcAft>
                <a:spcPts val="300"/>
              </a:spcAft>
              <a:defRPr sz="1400" b="1">
                <a:solidFill>
                  <a:srgbClr val="009688"/>
                </a:solidFill>
                <a:latin typeface="Montserrat"/>
              </a:defRPr>
            </a:pPr>
            <a:r>
              <a:t>TRES CONCLUSIONES CLAVE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1. Desacople Exitoso de la Moneda: La escala 0.0 a 1.0 permite comparar precios de festivales masivos con teatros locales bajo la misma regla de exclusividad.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2. Identificacion Inmediata de Zonas Selectas: El 25% de las localidades ocupan menos del 10% del aforo total, constituyendo candidatas naturales a VIP o palcos.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3. Comportamiento Comercial Asimetrico: La ocupacion historica introduce una dimension de velocidad de demanda que diferencia zonas de alta rotacion de zonas con remanente.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VALIDACION SEMANTICA Y FISICA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Grafico 3: Comparacion Bivariada de Precio Relativo y Aforo por Atributo NLP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boxplots_bivari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12064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9164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ANALISIS DE DATOS</a:t>
            </a:r>
          </a:p>
          <a:p>
            <a:pPr>
              <a:spcAft>
                <a:spcPts val="6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PALCO y VIP registran las medianas de peso_aforo mas reducidas del catalogo (4.0% y 4.4% del venue), manteniendo ratios de precio promedio de 0.685 y 0.676 con maximos en 1.0. PREFERENCIAL y PLATEA registran ratios de precio medianos de 0.923 y 0.875 con aforos medios (15.7% a 17.4%). BALCON presenta el precio mas accesible de teatro (ratio medio 0.503).</a:t>
            </a:r>
          </a:p>
          <a:p>
            <a:pPr>
              <a:spcAft>
                <a:spcPts val="300"/>
              </a:spcAft>
              <a:defRPr sz="1400" b="1">
                <a:solidFill>
                  <a:srgbClr val="009688"/>
                </a:solidFill>
                <a:latin typeface="Montserrat"/>
              </a:defRPr>
            </a:pPr>
            <a:r>
              <a:t>TRES CONCLUSIONES CLAVE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1. Confirmacion de Jerarquia Fisica: La semantica NLP se alinea con la capacidad fisica: los palcos ocupan fracciones minimas de aforo y las generales absorben el volumen.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2. Validacion de la Platea como Zona Preferente: Las plateas se ubican en el rango superior de precios, consolidandose como el escalon intermedio-alto de demanda.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3. El Balcon como Opcion Popular de Recinto Cerrado: Los balcones registran sistematicamente un precio 50% menor a la platea del mismo show, validando su rol accesible.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ANALISIS DE CORRELACIONES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Grafico 4: Matriz de Correlaciones Numericas y Ratios Estructurales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correl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12064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9164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ANALISIS DE DATOS</a:t>
            </a:r>
          </a:p>
          <a:p>
            <a:pPr>
              <a:spcAft>
                <a:spcPts val="6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La correlacion entre el precio nominal en COP (med_unit_amt_itx) y el ratio_precio_max es nula (r = -0.034), demostrando que el dinero nominal no refleja exclusividad. El peso_aforo correlaciona negativamente con ratio_precio_max (r = -0.248) y ratio_cortesias (r = -0.250). La tasa de ocupacion correlaciona fuertemente con ventas pagas (r = 0.82).</a:t>
            </a:r>
          </a:p>
          <a:p>
            <a:pPr>
              <a:spcAft>
                <a:spcPts val="300"/>
              </a:spcAft>
              <a:defRPr sz="1400" b="1">
                <a:solidFill>
                  <a:srgbClr val="009688"/>
                </a:solidFill>
                <a:latin typeface="Montserrat"/>
              </a:defRPr>
            </a:pPr>
            <a:r>
              <a:t>TRES CONCLUSIONES CLAVE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1. Independencia del Precio Nominal: Al tener correlacion cercana a cero con los ratios relativos, se ratifica que usar el precio en COP aisladamente distorsionaba la segmentacion.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2. Ley de Oferta y Demanda en el Aforo: A mayor peso de aforo de una localidad dentro del show, menor tiende a ser su ratio de precio relativo.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3. No Redundancia en el Espacio Mixto: Ninguna pareja de variables estructurales presenta colinealidad perfecta (|r| &lt; 0.85), garantizando informacion complementaria para el clustering.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ESPACIO DE CLUSTERING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Grafico 5: Mapa de Separabilidad Espacial (Cuadrantes de Demanda)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5_cuadrantes_dem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120640" cy="30723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09360" y="169164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ANALISIS DE DATOS</a:t>
            </a:r>
          </a:p>
          <a:p>
            <a:pPr>
              <a:spcAft>
                <a:spcPts val="6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El scatter plot 2D proyecta la separacion en 4 cuadrantes: Superior Izquierdo (Bajo Aforo &lt; 25%, Alto Precio &gt; 0.5) con palcos y VIP de alta ocupacion; Inferior Izquierdo (Bajo Aforo, Bajo Precio) con balcones y vistas restringidas; Superior Derecho con preferenciales masivas; e Inferior Derecho con gradas generales y masivas.</a:t>
            </a:r>
          </a:p>
          <a:p>
            <a:pPr>
              <a:spcAft>
                <a:spcPts val="300"/>
              </a:spcAft>
              <a:defRPr sz="1400" b="1">
                <a:solidFill>
                  <a:srgbClr val="009688"/>
                </a:solidFill>
                <a:latin typeface="Montserrat"/>
              </a:defRPr>
            </a:pPr>
            <a:r>
              <a:t>TRES CONCLUSIONES CLAVE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1. Separabilidad Geometrica Evidente: Los datos forman cuatro concentraciones espaciales que validan matematicamente el uso de algoritmos basados en distancias (K-Means).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2. Diferenciacion por Demanda (Ocupacion): La escala de color evidencia que las zonas del cuadrante superior izquierdo presentan las mayores tasas de agotamiento de boleteria.</a:t>
            </a:r>
          </a:p>
          <a:p>
            <a:pPr>
              <a:spcAft>
                <a:spcPts val="3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3. Soporte Visual para Decisiones de Negocio: Permite a pricing y operaciones ubicar cualquier nueva localidad en el espacio cartesiano y predecir su arquetipo.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ARQUETIPOS DE DEMANDA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Estandarizacion de 33,878 Localidades en 4 Segmentos Universales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VIP / Palcos / Premium [1,919 (5.7%) del catalogo]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Perfil: Ratio Precio: 0.72 | Aforo: 19.1% | Ocupacion: 69.7%  |  Ejemplos: Palcos, Mesas VIP, Boxes, Suites, Experiencia Platino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077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Preferencial / Platea Frontal [5,759 (17.0%) del catalogo]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Perfil: Ratio Precio: 0.74 | Aforo: 22.2% | Ocupacion: 40.9%  |  Ejemplos: Platea 1, Platea 2, Preferencial Delantera, Sillas Centrales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50791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Grada General / Masiva [17,182 (50.7%) del catalogo]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Perfil: Ratio Precio: 0.99 | Aforo: 89.3% | Ocupacion: 9.1%  |  Ejemplos: General, Entrada Unica, Tiquete Full, Admision General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937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Popular / Visibilidad Parcial / Balcon [9,018 (26.6%) del catalogo]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Perfil: Ratio Precio: 0.49 | Aforo: 18.3% | Ocupacion: 10.0%  |  Ejemplos: Platea Posterior, Balcon Mayor, 2do Balcon, Vista Parcial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7461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SINTESIS Y PROXIMOS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06253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34074"/>
                </a:solidFill>
                <a:latin typeface="Montserrat"/>
              </a:defRPr>
            </a:pPr>
            <a:r>
              <a:t>Impacto Estrategico para TuBoleta y Pase a Produccion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Logros del Analisis Exploratorio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1. Se demostro que la normalizacion por evento elimina el sesgo del dinero en COP.</a:t>
            </a:r>
            <a:br/>
            <a:r>
              <a:t>2. Se comprobo que el 81.8% de los VIPs no tienen la palabra VIP en su nombre y se clasifican por fisica de aforo y precio.</a:t>
            </a:r>
            <a:br/>
            <a:r>
              <a:t>3. Se estructuro el espacio mixto en R^(33,878 x 37) sin colinealidad critica (|r| &lt; 0.85).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Impacto de Negocio para TuBoleta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1. Reportes y Dashboards transversales estandarizados sin depender del promotor.</a:t>
            </a:r>
            <a:br/>
            <a:r>
              <a:t>2. Modelos de elasticidad de precios por arquetipo (VIP vs Preferencial vs General).</a:t>
            </a:r>
            <a:br/>
            <a:r>
              <a:t>3. Deteccion temprana de localidades con baja rotacion para optimizacion de aforo.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91640"/>
            <a:ext cx="33832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74519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B2545"/>
                </a:solidFill>
                <a:latin typeface="Montserrat"/>
              </a:defRPr>
            </a:pPr>
            <a:r>
              <a:t>Siguientes Pasos en Produccion</a:t>
            </a:r>
          </a:p>
          <a:p>
            <a:pPr>
              <a:defRPr sz="1200">
                <a:solidFill>
                  <a:srgbClr val="212529"/>
                </a:solidFill>
                <a:latin typeface="Montserrat"/>
              </a:defRPr>
            </a:pPr>
            <a:r>
              <a:t>1. Validar K-Means con k=4 en el pipeline de ejecucion.</a:t>
            </a:r>
            <a:br/>
            <a:r>
              <a:t>2. Comparar resultados con Gaussian Mixture Models (GMM) para densidades variables.</a:t>
            </a:r>
            <a:br/>
            <a:r>
              <a:t>3. Exportar localidades_clusterizadas.parquet hacia la base analitica de BI.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46538</TotalTime>
  <Words>6</Words>
  <Application>Microsoft Macintosh PowerPoint</Application>
  <PresentationFormat>Panorámica</PresentationFormat>
  <Paragraphs>5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Montserrat</vt:lpstr>
      <vt:lpstr>Tema de Office</vt:lpstr>
      <vt:lpstr>Titulo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Hot Seat</dc:title>
  <dc:creator>Nicolas Paz</dc:creator>
  <cp:lastModifiedBy>Valentina Londoño Ramirez</cp:lastModifiedBy>
  <cp:revision>40</cp:revision>
  <dcterms:created xsi:type="dcterms:W3CDTF">2025-02-26T14:42:43Z</dcterms:created>
  <dcterms:modified xsi:type="dcterms:W3CDTF">2026-08-29T20:57:57Z</dcterms:modified>
</cp:coreProperties>
</file>