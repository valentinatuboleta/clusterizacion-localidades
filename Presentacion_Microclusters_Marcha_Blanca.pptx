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300" r:id="rId3"/>
    <p:sldId id="301" r:id="rId10"/>
    <p:sldId id="302" r:id="rId11"/>
    <p:sldId id="303" r:id="rId12"/>
    <p:sldId id="304" r:id="rId13"/>
    <p:sldId id="305" r:id="rId14"/>
    <p:sldId id="306" r:id="rId15"/>
    <p:sldId id="307" r:id="rId16"/>
    <p:sldId id="308" r:id="rId17"/>
    <p:sldId id="309" r:id="rId18"/>
    <p:sldId id="310" r:id="rId19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5656"/>
    <a:srgbClr val="A64444"/>
    <a:srgbClr val="747474"/>
    <a:srgbClr val="AEAEAE"/>
    <a:srgbClr val="000000"/>
    <a:srgbClr val="171717"/>
    <a:srgbClr val="730503"/>
    <a:srgbClr val="EB8181"/>
    <a:srgbClr val="A03836"/>
    <a:srgbClr val="8C18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C7C860-5ADA-984C-95B1-EC5540EF2561}" v="1730" dt="2025-06-03T11:13:12.824"/>
    <p1510:client id="{78150E8C-1977-8D54-46D1-76837E65EA46}" v="17" dt="2025-06-03T11:23:37.2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57"/>
    <p:restoredTop sz="94558"/>
  </p:normalViewPr>
  <p:slideViewPr>
    <p:cSldViewPr snapToGrid="0">
      <p:cViewPr varScale="1">
        <p:scale>
          <a:sx n="121" d="100"/>
          <a:sy n="121" d="100"/>
        </p:scale>
        <p:origin x="108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15FD67-EC71-47D1-90CE-86339F00FC6F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6BA357-0328-47D9-8533-190B4B6F8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71165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EBD0A-E63F-B5BE-2332-104F310CF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56251D4-31A1-ABB9-9F16-8142C4B50E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1D2B31A-FB35-B52F-AF82-2A0B5D05B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Fíjense en la estructura de árbol: el negocio habla en términos de 6 arquetipos para planear eventos, pero el motor de datos opera en micro-clusters. El puente entre la ingeniería y el negocio es label_auto, garantizando que todo agrupamiento técnico tenga un sentido comercial transparente.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FEF299D-8AB3-C0C7-5D94-C86B074E80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6BA357-0328-47D9-8533-190B4B6F8752}" type="slidenum">
              <a:rPr lang="es-CO" smtClean="0"/>
              <a:t>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717306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Hoy presentamos los resultados de la marcha blanca sobre datos transaccionales reales descargados de Azure. Ambos modelos corrieron congelados, sin re-entrenar una sola línea, demostrando cómo opera el pipeline en producción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catálogo v3.0 no fue producto de intuición: cada sub-espacio se optimizó independientemente con curvas Codo-Davies Bouldin. Excluimos deliberadamente dos grupos degenerados que tenían solo 3 filas en pruebas tempranas para mantener un catálogo industrial robusto con estabilidad bootstrap superior a 0.88 en todas las particiones clave.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scoring corre en milisegundos y en estricta cascada: primero garantizamos calidad física del dato, luego v2.5 asigna el arquetipo general, y finalmente el sub-modelo especializado desciende al micro-cluster. Si hay duda geométrica, el sistema no inventa certeza: prende la alarma de frontera.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marcha blanca demuestra el doble etiquetado sobre 1,324 filas reales de Azure GOLD. A la izquierda, los 6 arquetipos héroes de portada; a la derecha, la matriz de distribución sobre los 10 recintos con mayor volumen, mostrando cómo conviven los arquetipos según la tipología del 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arquetipo, distintos micro-clusters: la granularidad interna es la feature de backend; el arquetipo es el lenguaje de negocio. Observen cómo dentro de Preferencial distinguimos plateas centrales de laterales y posteriores; y en VIP aislamos palcos puros frente a balcones mixtos.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arquetipo, distintos micro-clusters: la granularidad interna es la feature de backend; el arquetipo es el lenguaje de negocio. En eventos masivos, Popular separa pisos altos de balcones, mientras Grada General aísla tiquetes de festival de localidades de admisión por gradería.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sistema sabe lo que no sabe: las fronteras no inventan certeza ficticia sino que encienden banderas de auditoría; los micro-clusters híbridos capturan recintos con nomenclatura mixta sin colapsar la asignación; y Admisión Única resuelve determinísticamente eventos mono-zona al 100% de confianza.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evidencia no termina en las diapositivas: las 1,324 asignaciones completas, filtrables y con formato de porcentaje están disponibles en el anexo de Excel generado con openpyxl, además del CSV canónico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nivel de calidad matemática, el modelo superó todas sus compuertas: confianza geométrica de 63%, apenas 14% de registros en frontera —muy por debajo del límite de alarma del 20%— y 100% de cobertura. Más aún: los 5 sub-espacios multi-zona tienen documentada una estabilidad bootstrap-ARI superior a 0.88 en réplicas al 80%, lo que garantiza reproducibilidad ante re-entrenamientos.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Debemos ser transparentes con el comité: 1,324 filas certifican que el código no se rompe y que las reglas filtran la basura, pero no constituyen una prueba estadística válida. El blob de prueba que recibimos tenía 90% de duplicados y funciones cortadas a la mitad. Ya entregamos el reporte formal de auditoría a Data Engineering con 5 criterios de aceptación para el nuevo lote.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hoja de ruta es clara: una vez Data Engineering publique el blob curado con las 5 condiciones pactadas, ejecutaremos el protocolo final de drift. Con eso, y tras definir la política comercial para precios en cero en la versión 2.6, los micro-clusters quedarán listos para integrarse al pricing dinámico de la compañía.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07F76A-B1D3-417A-8521-2307E64CE0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71F74F3-1A41-5FE7-C026-4C21A6E01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C7EF09-EBC1-55E1-498A-5CF71E085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615336-14F5-5DC2-D65B-918FB415F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B2C69B-784F-1484-EAC5-89D3ED54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59044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D9958C-FF82-35D5-D16C-2D1670DE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4AC815-FF7F-7A02-11BF-C62597C35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493151-4DA2-7B8B-FD02-7D932EB05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A0197F-DE16-810F-91D9-6C4DFF092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7C76A77-8647-AD6A-F639-E8A71410C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35287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037E60-3E63-A57B-213C-C69202FC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193DBA7-0974-0350-0D12-5FC8E83FB5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8176A03-CC7B-336A-7B8C-A7B56BB3F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394BD8-9B63-A7E2-6852-4EAC03B02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98CA05F-CAA3-78F6-AAB4-91E0D1EEE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91240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7C4B83-28B9-19E1-AADC-53E816C06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ED168F-AB53-226B-EE1E-CF657BE96B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A6CFD7F-377C-1913-A477-7C45C59B5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B59E6CB-B419-DE97-A883-60809910B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D192D90-9D57-FE9A-7860-0E5C648BD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BB5C3DF-DDDD-7FB3-E148-54EAE537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82398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2BD944-176A-09E4-8EB5-D5302064C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690F58-99E2-F025-FEDC-DCAA0662C5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655F7E-F27E-D259-E532-E5D3032372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BD3ECA1-EF03-D77F-B325-FF5B5CDF3D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C93F854-38B7-974D-5FFC-5BC32D9FD6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BBD7746-8273-7E43-8C5A-19CD71A1E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94EB7F2-CF86-3D07-978E-42BED0AF1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4BEF855-1CBF-7404-E409-F28E505FD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33194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067F24-61D2-3D87-D57E-F7E184C68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72E5522-0904-2830-8129-F2A22858D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9006F7-183C-9037-FE82-4513B0C41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36EC8C9-BF28-3371-B3C6-26AF2ECB4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9857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DF082E7-EFF7-965D-886D-5ECFBC524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83E3A01-1795-49DE-18C4-E46DB2CCD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280031C-A226-BB82-9F3E-00F0B6EC5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19349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67A1C8-F9C6-6943-D132-A751B1842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9649C3-39B5-740E-2928-318F7A8F8A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880B87A-52C7-D636-69C3-8F1CF5EAB2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08EE230-E45A-1686-D7E3-590160D6A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58BA3C-2AEB-3AB5-CB2A-AC0C25C8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F57D043-25F4-6482-6AD2-A1BB8E70D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4088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1E14FC-3AD3-3608-FAC3-39E54B9D5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7A3303C-9C5B-60C1-2E0C-A1BB3A6983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36BC4CD-C43D-D5A6-61A6-1FBB057376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5B24AE5-DF88-43DD-6A28-9328B0641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EB1A404-0E81-7EC9-7FDD-5BB82BE7D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69D8146-25B4-52B4-24A7-03E75748E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9634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1C30DF-8694-30FF-A7F3-FDD70B4AD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8F7C3D2-35E8-D7B5-C92C-B2951E8AB4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F7CBAB-FF35-70A3-7C3C-B2AEF7598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64445-643D-E38B-BC7D-B9BBFD647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306E5B-1772-DAA5-17BD-3B588B837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98266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85CEEE4-3BCB-5EEF-B9D6-A7D51D4468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C574AA-A3AC-56A6-0350-96EC3D9C7F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F1E583-436C-D418-7381-3A6FDA28E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70FB48E-AE98-97BA-A6B5-E02DD7809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44799E-7772-E626-11AC-E119E5BC0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0095335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7862ADA-D906-8889-78BA-70F965B61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A6FF7BA-B21A-288F-082A-F3FB0BCC2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7624A2-67F2-8817-DDE6-7833677C78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01BA2DB-DD42-A209-E402-625B6C84E9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D02E29D-735A-0F44-C5B6-DC44F8E1D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83932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AEBE1D-FD1E-E453-25C4-0DDD6C5EFC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2011680"/>
            <a:ext cx="8686800" cy="1371600"/>
          </a:xfrm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0B2545"/>
                </a:solidFill>
                <a:latin typeface="Montserrat"/>
              </a:defRPr>
            </a:pPr>
            <a:r>
              <a:t>Micro-Clusters y Arquetipos de Demanda</a:t>
            </a:r>
            <a:br/>
            <a:r>
              <a:t>Doble Etiquetado en Marcha Blanca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F2CAB7C-BEB6-A500-41FC-24DFBE7F19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7280" y="3657600"/>
            <a:ext cx="8686800" cy="548640"/>
          </a:xfrm>
        </p:spPr>
        <p:txBody>
          <a:bodyPr wrap="square">
            <a:normAutofit/>
          </a:bodyPr>
          <a:lstStyle/>
          <a:p>
            <a:pPr>
              <a:defRPr sz="1300" b="0">
                <a:solidFill>
                  <a:srgbClr val="134074"/>
                </a:solidFill>
                <a:latin typeface="Montserrat"/>
              </a:defRPr>
            </a:pPr>
            <a:r>
              <a:t>Shadow Testing en Azure Capa GOLD | Macro v2.5 + Micro v3.0 | Equipo BI &amp; Data Science TuBoleta</a:t>
            </a:r>
          </a:p>
        </p:txBody>
      </p:sp>
    </p:spTree>
    <p:extLst>
      <p:ext uri="{BB962C8B-B14F-4D97-AF65-F5344CB8AC3E}">
        <p14:creationId xmlns:p14="http://schemas.microsoft.com/office/powerpoint/2010/main" val="2083080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D84AF-EE49-8536-394D-4712FFDE4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ARQUITECTURA JERÁRQUICA DE CLASIFICACIÓN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El Modelo en Dos Niveles: Del Micro-Cluster Técnico al Arquetipo de Negocio (Rollup 1:1)</a:t>
            </a:r>
          </a:p>
        </p:txBody>
      </p:sp>
      <p:pic>
        <p:nvPicPr>
          <p:cNvPr id="4" name="Picture 3" descr="fig_arbol_arquetipos_micro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7315200" cy="51206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280160"/>
            <a:ext cx="320040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371600"/>
            <a:ext cx="2926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Nivel 1 (Macro de Negocio):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6 Arquetipos de demanda que gobiernan pricing y contingentes.</a:t>
            </a:r>
          </a:p>
          <a:p>
            <a:pPr>
              <a:spcAft>
                <a:spcPts val="2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Nivel 2 (Micro-Cluster):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Particiones especializadas por patrones léxicos y arquitectónicos.</a:t>
            </a:r>
          </a:p>
          <a:p>
            <a:pPr>
              <a:spcAft>
                <a:spcPts val="2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Invarianza Rollup 1:1: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Todo micro-cluster pertenece estrictamente a un único arquetipo.</a:t>
            </a:r>
          </a:p>
          <a:p>
            <a:pPr>
              <a:spcAft>
                <a:spcPts val="2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El Puente Semántico: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label_auto traduce centroides numéricos a etiquetas legibles de negocio.</a:t>
            </a:r>
          </a:p>
        </p:txBody>
      </p:sp>
    </p:spTree>
    <p:extLst>
      <p:ext uri="{BB962C8B-B14F-4D97-AF65-F5344CB8AC3E}">
        <p14:creationId xmlns:p14="http://schemas.microsoft.com/office/powerpoint/2010/main" val="2762659457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CATÁLOGO CANÓNICO DE MICRO-CLUSTERS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Estructura Formal de los 18 Micro-Clusters Activos, Pureza Léxica y Estabilidad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B2545"/>
                </a:solidFill>
                <a:latin typeface="Montserrat"/>
              </a:defRPr>
            </a:pPr>
            <a:r>
              <a:t>Admisión Única y Popular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AU-0 | Admisión Única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15,375 locs (45.5%) | Nodo terminal determinístico puro.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POP-0 | hibrido_k0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1,549 locs | Balcón dominante (40.0%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POP-1 | hibrido_k1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1,506 locs | Piso alto dominante (41.2%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POP-2 | hibrido_k2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1,576 locs | Balcón y piso alto (55.1%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POP-3 | hibrido_k3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1,223 locs | Pisos superiores de arena/estadio.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46304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B2545"/>
                </a:solidFill>
                <a:latin typeface="Montserrat"/>
              </a:defRPr>
            </a:pPr>
            <a:r>
              <a:t>VIP y Preferencial Frontal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VIP-0 | hibrido_k0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799 locs | Palcos mixtos con balcón.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VIP-1 | hibrido_k1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2,347 locs | Palcos teatro y suites (51.0%).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VIP-2 | hibrido_k2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2,029 locs | Palcos puros de alta exclusividad (58.8%).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PPF-0 | Platea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687 locs | Platea pura frontal (99.8%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PPF-1 | Platea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838 locs | Platea teatro canónica (93.4%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PPF-2 | Platea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1,552 locs | Platea delantera y central (98.1% pureza).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46304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B2545"/>
                </a:solidFill>
                <a:latin typeface="Montserrat"/>
              </a:defRPr>
            </a:pPr>
            <a:r>
              <a:t>Platea General y Grada Masiva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PGI-0 | hibrido_k0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768 locs | Preferencial intermedio.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PGI-1 | hibrido_k1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840 locs | Lunetas y balcones bajos.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PGI-2 | hibrido_k2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782 locs | Lunetas intermedias de teatro.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PGI-3 | hibrido_k3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950 locs | Sectores generales de platea.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GGM-0 | General Tiquete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363 locs | Tiquete masivo puro (93.7%).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GGM-1..2 | Mixtos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591 locs | Gradas generales y festivales.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MECÁNICA DE INFERENCIA EN CASCADA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El Flujo de Scoring en 3 Pasos: De la Consistencia Física a la Asignación Jerárquica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72768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4074"/>
                </a:solidFill>
                <a:latin typeface="Montserrat"/>
              </a:defRPr>
            </a:pPr>
            <a:r>
              <a:t>PASO 1: Contrato de Consistencia y Features Ex-Ante</a:t>
            </a:r>
          </a:p>
          <a:p>
            <a:pPr>
              <a:defRPr sz="1100">
                <a:solidFill>
                  <a:srgbClr val="212529"/>
                </a:solidFill>
                <a:latin typeface="Montserrat"/>
              </a:defRPr>
            </a:pPr>
            <a:r>
              <a:t>Aplica las 9 reglas de consistencia de negocio (aforos &gt; 0, precios &gt; 0, ventas &lt;= cuota, exclusión de patrones de parqueadero). Canoniza la tipología de venue (type_site) y calcula percentiles relativos por función.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69848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127248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4074"/>
                </a:solidFill>
                <a:latin typeface="Montserrat"/>
              </a:defRPr>
            </a:pPr>
            <a:r>
              <a:t>PASO 2: Inferencia Nivel 1 (Macro v2.5)</a:t>
            </a:r>
          </a:p>
          <a:p>
            <a:pPr>
              <a:defRPr sz="1100">
                <a:solidFill>
                  <a:srgbClr val="212529"/>
                </a:solidFill>
                <a:latin typeface="Montserrat"/>
              </a:defRPr>
            </a:pPr>
            <a:r>
              <a:t>Separa monozona (Admisión Única determinística) de multi-zona. En multi-zona proyecta en espacio mixto 36D y aplica asignación biyectiva húngara hacia uno de los 5 arquetipos macro.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681728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4074"/>
                </a:solidFill>
                <a:latin typeface="Montserrat"/>
              </a:defRPr>
            </a:pPr>
            <a:r>
              <a:t>PASO 3: Especialización Nivel 2 (Micro v3.0) y Alerta de Frontera</a:t>
            </a:r>
          </a:p>
          <a:p>
            <a:pPr>
              <a:defRPr sz="1100">
                <a:solidFill>
                  <a:srgbClr val="212529"/>
                </a:solidFill>
                <a:latin typeface="Montserrat"/>
              </a:defRPr>
            </a:pPr>
            <a:r>
              <a:t>El arquetipo macro invoca exclusivamente su sub-modelo K-Means especializado, calculando el micro_cluster_id y generando label_auto. Si la localidad cayó en frontera en Nivel 1, propaga segmento_incierto=True.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GALERÍA DE VALIDACIÓN EN MARCHA BLANCA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Doble Etiquetado en Vivo: Los 6 Arquetipos Héroes y Densidad en los Top 10 Recintos</a:t>
            </a:r>
          </a:p>
        </p:txBody>
      </p:sp>
      <p:pic>
        <p:nvPicPr>
          <p:cNvPr id="4" name="Picture 3" descr="fig_tarjetas_ejemplos_marc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5486400" cy="5029200"/>
          </a:xfrm>
          <a:prstGeom prst="rect">
            <a:avLst/>
          </a:prstGeom>
        </p:spPr>
      </p:pic>
      <p:pic>
        <p:nvPicPr>
          <p:cNvPr id="5" name="Picture 4" descr="fig_matriz_recintos_arquetip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280160"/>
            <a:ext cx="51206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EVIDENCIA POR SEGMENTO: SEGMENTO PREMIUM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Granularidad Interna en VIP y Preferencial Frontal (Micro-clusters VIP-0..2 y PPF-0..2)</a:t>
            </a:r>
          </a:p>
        </p:txBody>
      </p:sp>
      <p:pic>
        <p:nvPicPr>
          <p:cNvPr id="4" name="Picture 3" descr="fig_galeria_prem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10698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EVIDENCIA POR SEGMENTO: SEGMENTO MASIVOS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Granularidad Interna en Platea General, Popular y Grada Masiva (PGI, POP, GGM)</a:t>
            </a:r>
          </a:p>
        </p:txBody>
      </p:sp>
      <p:pic>
        <p:nvPicPr>
          <p:cNvPr id="4" name="Picture 3" descr="fig_galeria_masiv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10698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CASOS ESPECIALES: CALIDAD MATEMÁTICA Y FRONTERAS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Admisión Única Determinística, Banderas de Frontera y Clusters Léxicos Híbridos</a:t>
            </a:r>
          </a:p>
        </p:txBody>
      </p:sp>
      <p:pic>
        <p:nvPicPr>
          <p:cNvPr id="4" name="Picture 3" descr="fig_galeria_especia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6858000" cy="5029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657600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09560" y="14173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34074"/>
                </a:solidFill>
                <a:latin typeface="Montserrat"/>
              </a:defRPr>
            </a:pPr>
            <a:r>
              <a:t>AU-0: Admisión Única (100% Confianza)</a:t>
            </a:r>
          </a:p>
          <a:p>
            <a:pPr>
              <a:spcAft>
                <a:spcPts val="8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Eventos mono-zona o boletos de acceso irrestricto (Meet &amp; Greet, Galerías). Pasa por nodo determinístico.</a:t>
            </a:r>
          </a:p>
          <a:p>
            <a:pPr>
              <a:spcAft>
                <a:spcPts val="200"/>
              </a:spcAft>
              <a:defRPr sz="1100" b="1">
                <a:solidFill>
                  <a:srgbClr val="E76F51"/>
                </a:solidFill>
                <a:latin typeface="Montserrat"/>
              </a:defRPr>
            </a:pPr>
            <a:r>
              <a:t>Fronteras Estadísticas (Borde Punteado)</a:t>
            </a:r>
          </a:p>
          <a:p>
            <a:pPr>
              <a:spcAft>
                <a:spcPts val="8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Confianzas &lt; 0.50 entre zonas difusas (ej. Platea en Teatro El Ensueño con 0.16%). Activa segmento_incierto=True.</a:t>
            </a:r>
          </a:p>
          <a:p>
            <a:pPr>
              <a:spcAft>
                <a:spcPts val="200"/>
              </a:spcAft>
              <a:defRPr sz="1100" b="1">
                <a:solidFill>
                  <a:srgbClr val="134074"/>
                </a:solidFill>
                <a:latin typeface="Montserrat"/>
              </a:defRPr>
            </a:pPr>
            <a:r>
              <a:t>Clusters Híbridos (Badge HÍBRIDO)</a:t>
            </a:r>
          </a:p>
          <a:p>
            <a:pPr>
              <a:spcAft>
                <a:spcPts val="8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Nomenclaturas combinadas (Luneta + Balcón) agrupadas por K-Means sin violar el arquetipo macro.</a:t>
            </a:r>
          </a:p>
          <a:p>
            <a:pPr>
              <a:spcAft>
                <a:spcPts val="200"/>
              </a:spcAft>
              <a:defRPr sz="1100" b="1">
                <a:solidFill>
                  <a:srgbClr val="134074"/>
                </a:solidFill>
                <a:latin typeface="Montserrat"/>
              </a:defRPr>
            </a:pPr>
            <a:r>
              <a:t>Regla 8: Exclusiones Interceptadas</a:t>
            </a:r>
          </a:p>
          <a:p>
            <a:pPr>
              <a:spcAft>
                <a:spcPts val="8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13,020 parqueaderos y 205 localidades activas no comerciales excluidas ex-ante por el contrato Python.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ANEXO VERIFICABLE DE MARCHA BLANCA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Acceso Completo a las 1,324 Asignaciones: Excel Ejecutivo y Repositorio Versionado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640080"/>
          </a:xfrm>
          <a:prstGeom prst="round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ontserrat"/>
              </a:defRPr>
            </a:pPr>
            <a:r>
              <a:t>LIBRO DE EXCEL EJECUTIVO (AUDITORÍA INMEDIATA)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reports/anexo_asignaciones_marcha_blanca.xlsx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Volumen Total: </a:t>
            </a:r>
            <a:r>
              <a:rPr b="0">
                <a:solidFill>
                  <a:srgbClr val="212529"/>
                </a:solidFill>
              </a:rPr>
              <a:t>1,324 filas de localidades limpias certificadas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Hoja Única: </a:t>
            </a:r>
            <a:r>
              <a:rPr b="0">
                <a:solidFill>
                  <a:srgbClr val="212529"/>
                </a:solidFill>
              </a:rPr>
              <a:t>'Asignaciones_Marcha_Blanca' con autofiltro nativo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Usabilidad: </a:t>
            </a:r>
            <a:r>
              <a:rPr b="0">
                <a:solidFill>
                  <a:srgbClr val="212529"/>
                </a:solidFill>
              </a:rPr>
              <a:t>Fila de encabezado congelada para navegación fluida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Formato Porcentual: </a:t>
            </a:r>
            <a:r>
              <a:rPr b="0">
                <a:solidFill>
                  <a:srgbClr val="212529"/>
                </a:solidFill>
              </a:rPr>
              <a:t>score_confianza formateado como porcentaje (0.0%)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Formato Moneda: </a:t>
            </a:r>
            <a:r>
              <a:rPr b="0">
                <a:solidFill>
                  <a:srgbClr val="212529"/>
                </a:solidFill>
              </a:rPr>
              <a:t>precio con separador de miles en pesos colombianos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Columnas Clave: </a:t>
            </a:r>
            <a:r>
              <a:rPr b="0">
                <a:solidFill>
                  <a:srgbClr val="212529"/>
                </a:solidFill>
              </a:rPr>
              <a:t>localidad, recinto, precio, type_site, micro_cluster_id, label_auto, arquetipo_demanda, score_confianza, es_frontera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640080"/>
          </a:xfrm>
          <a:prstGeom prst="roundRect">
            <a:avLst/>
          </a:prstGeom>
          <a:solidFill>
            <a:srgbClr val="134074"/>
          </a:solidFill>
          <a:ln>
            <a:solidFill>
              <a:srgbClr val="134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ontserrat"/>
              </a:defRPr>
            </a:pPr>
            <a:r>
              <a:t>ARTEFACTOS DE CÓDIGO Y DATOS EN REPOSITORIO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c:/dev/clusterizacion-localidades/ (Git Versionado)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CSV Completo: </a:t>
            </a:r>
            <a:r>
              <a:rPr b="0">
                <a:solidFill>
                  <a:srgbClr val="212529"/>
                </a:solidFill>
              </a:rPr>
              <a:t>data/processed/asignacion_microclusters.csv (1,324 filas)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CSV Galería: </a:t>
            </a:r>
            <a:r>
              <a:rPr b="0">
                <a:solidFill>
                  <a:srgbClr val="212529"/>
                </a:solidFill>
              </a:rPr>
              <a:t>reports/ejemplos_galeria_extendida.csv (25 filas estratificadas)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Catálogo v3.0: </a:t>
            </a:r>
            <a:r>
              <a:rPr b="0">
                <a:solidFill>
                  <a:srgbClr val="212529"/>
                </a:solidFill>
              </a:rPr>
              <a:t>data/processed/cluster_catalog_v3.csv (18 micro-clusters)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Auditoría Data Eng: </a:t>
            </a:r>
            <a:r>
              <a:rPr b="0">
                <a:solidFill>
                  <a:srgbClr val="212529"/>
                </a:solidFill>
              </a:rPr>
              <a:t>reports/hallazgos_blob_test_gold_20261007.md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Test Hermético: </a:t>
            </a:r>
            <a:r>
              <a:rPr b="0">
                <a:solidFill>
                  <a:srgbClr val="212529"/>
                </a:solidFill>
              </a:rPr>
              <a:t>tests/test_ejemplos_presentacion.py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Reproducibilidad: </a:t>
            </a:r>
            <a:r>
              <a:rPr b="0">
                <a:solidFill>
                  <a:srgbClr val="212529"/>
                </a:solidFill>
              </a:rPr>
              <a:t>Pipeline determinístico; scripts de generación automatizados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MÉTRICAS DE CALIDAD Y CONFIABILIDAD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Evaluación Cuantitativa de la Marcha Blanca y Estabilidad Estadística Documentada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82880" cy="2286000"/>
          </a:xfrm>
          <a:prstGeom prst="round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09688"/>
                </a:solidFill>
                <a:latin typeface="Montserrat"/>
              </a:defRPr>
            </a:pPr>
            <a:r>
              <a:t>0.6314 (63.14%)</a:t>
            </a:r>
          </a:p>
          <a:p>
            <a:pPr>
              <a:spcAft>
                <a:spcPts val="6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SCORE DE CONFIANZA GEOMÉTRICO MEDIO</a:t>
            </a:r>
          </a:p>
          <a:p>
            <a:pPr>
              <a:defRPr sz="1000">
                <a:solidFill>
                  <a:srgbClr val="212529"/>
                </a:solidFill>
                <a:latin typeface="Montserrat"/>
              </a:defRPr>
            </a:pPr>
            <a:r>
              <a:t>Supera ampliamente el umbral operacional mínimo de 0.50. Alta certidumbre en asignación de centroides.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182880" cy="2286000"/>
          </a:xfrm>
          <a:prstGeom prst="roundRect">
            <a:avLst/>
          </a:prstGeom>
          <a:solidFill>
            <a:srgbClr val="134074"/>
          </a:solidFill>
          <a:ln>
            <a:solidFill>
              <a:srgbClr val="134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134074"/>
                </a:solidFill>
                <a:latin typeface="Montserrat"/>
              </a:defRPr>
            </a:pPr>
            <a:r>
              <a:t>14.27%</a:t>
            </a:r>
          </a:p>
          <a:p>
            <a:pPr>
              <a:spcAft>
                <a:spcPts val="6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TASA DE LOCALIDADES EN FRONTERA</a:t>
            </a:r>
          </a:p>
          <a:p>
            <a:pPr>
              <a:defRPr sz="1000">
                <a:solidFill>
                  <a:srgbClr val="212529"/>
                </a:solidFill>
                <a:latin typeface="Montserrat"/>
              </a:defRPr>
            </a:pPr>
            <a:r>
              <a:t>Dentro del margen seguro previsto (&lt; 20.0%). El 85.73% restante de las localidades se ubica con certidumbre nítida.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182880" cy="2286000"/>
          </a:xfrm>
          <a:prstGeom prst="roundRect">
            <a:avLst/>
          </a:prstGeom>
          <a:solidFill>
            <a:srgbClr val="0B2545"/>
          </a:solidFill>
          <a:ln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2336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B2545"/>
                </a:solidFill>
                <a:latin typeface="Montserrat"/>
              </a:defRPr>
            </a:pPr>
            <a:r>
              <a:t>0.00%</a:t>
            </a:r>
          </a:p>
          <a:p>
            <a:pPr>
              <a:spcAft>
                <a:spcPts val="6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TASA DE TEXTO VACÍO POST-FILTRO</a:t>
            </a:r>
          </a:p>
          <a:p>
            <a:pPr>
              <a:defRPr sz="1000">
                <a:solidFill>
                  <a:srgbClr val="212529"/>
                </a:solidFill>
                <a:latin typeface="Montserrat"/>
              </a:defRPr>
            </a:pPr>
            <a:r>
              <a:t>100% de cobertura de nombres semánticos. Cero localidades en blanco procesadas por el modelo.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3840480"/>
            <a:ext cx="182880" cy="228600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02336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E76F51"/>
                </a:solidFill>
                <a:latin typeface="Montserrat"/>
              </a:defRPr>
            </a:pPr>
            <a:r>
              <a:t>&gt; 0.88</a:t>
            </a:r>
          </a:p>
          <a:p>
            <a:pPr>
              <a:spcAft>
                <a:spcPts val="6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ESTABILIDAD BOOTSTRAP-ARI PROMEDIO</a:t>
            </a:r>
          </a:p>
          <a:p>
            <a:pPr>
              <a:defRPr sz="1000">
                <a:solidFill>
                  <a:srgbClr val="212529"/>
                </a:solidFill>
                <a:latin typeface="Montserrat"/>
              </a:defRPr>
            </a:pPr>
            <a:r>
              <a:t>Compuerta de reproducibilidad superada en réplicas al 80% (Popular: 0.985, Platea: 0.979, VIP: 0.934).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LÍMITES HONESTOS DEL LOTE Y GOBERNANZA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Validación Funcional Exitosa (N=1,324), Diagnóstico de Capa GOLD y Criterios de Aceptación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 b="1">
                <a:solidFill>
                  <a:srgbClr val="0B2545"/>
                </a:solidFill>
                <a:latin typeface="Montserrat"/>
              </a:defRPr>
            </a:pPr>
            <a:r>
              <a:t>VALIDACIÓN FUNCIONAL EXITOSA (NO ESTADÍSTICA)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706,443 Filas Crudas Ingeridas: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El lote probó de punta a punta la robustez del código, descarga de Azure e inferencia defensiva.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1,324 Localidades Limpias Finales (99.81% Descarte):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El volumen residual certificado es seguro para inferencia pero insuficiente para certificar drift poblacional (PSI) representativo.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Causa de Descarte Masivo: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636k duplicados exactos (90.1%) y 706k filas (99.9%) en eventos con suma de cuotas rota por muestreo parcial.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 b="1">
                <a:solidFill>
                  <a:srgbClr val="0B2545"/>
                </a:solidFill>
                <a:latin typeface="Montserrat"/>
              </a:defRPr>
            </a:pPr>
            <a:r>
              <a:t>LOS 5 CRITERIOS DE ACEPTACIÓN PARA EL NUEVO BLOB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A (Duplicados en Crudo):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Tasa de duplicidad estricta &lt; 1.0%.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B (Supervivencia de Filtro):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Tasa de retención consistente &gt; 90.0%.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C (Coherencia de Aforos):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0 eventos con discrepancias físicas en la suma de cuotas.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D (Volumetría):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Tamaño comparable al histórico (|Delta| &lt; 20% vs 33,775).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E (Patrones no Comerciales):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0 filas con TEST, CANCELAD, PARQUEA o sobreventas.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HOJA DE RUTA Y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Ruta Crítica hacia Producción Plena: Del Nuevo Blob GOLD al Feature Store Comercial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1. Publicación del Nuevo Blob GOLD Regenerado</a:t>
            </a:r>
          </a:p>
          <a:p>
            <a:pPr>
              <a:defRPr sz="1050">
                <a:solidFill>
                  <a:srgbClr val="212529"/>
                </a:solidFill>
                <a:latin typeface="Montserrat"/>
              </a:defRPr>
            </a:pPr>
            <a:r>
              <a:t>Entrega coordinada con Data Engineering bajo los 5 criterios de calidad acordados (deduplicación en origen y funciones completas).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2. Certificación Estadística Automatizada</a:t>
            </a:r>
          </a:p>
          <a:p>
            <a:pPr>
              <a:defRPr sz="1050">
                <a:solidFill>
                  <a:srgbClr val="212529"/>
                </a:solidFill>
                <a:latin typeface="Montserrat"/>
              </a:defRPr>
            </a:pPr>
            <a:r>
              <a:t>Ejecución de scripts/ejecutar_evaluacion_marcha_blanca.py sobre el nuevo extracto para validar PSI de drift poblacional (&lt; 0.10).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9319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3. Política Comercial para Precios en $0 COP (v2.6)</a:t>
            </a:r>
          </a:p>
          <a:p>
            <a:pPr>
              <a:defRPr sz="1050">
                <a:solidFill>
                  <a:srgbClr val="212529"/>
                </a:solidFill>
                <a:latin typeface="Montserrat"/>
              </a:defRPr>
            </a:pPr>
            <a:r>
              <a:t>Acuerdo formal con Producto sobre localidades de cortesía/prensa para alinear el re-entrenamiento histórico al filtro estricto.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16636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4. Exposición en Feature Store para Modelos Downstream</a:t>
            </a:r>
          </a:p>
          <a:p>
            <a:pPr>
              <a:defRPr sz="1050">
                <a:solidFill>
                  <a:srgbClr val="212529"/>
                </a:solidFill>
                <a:latin typeface="Montserrat"/>
              </a:defRPr>
            </a:pPr>
            <a:r>
              <a:t>Consumo de micro_cluster_id y arquetipo_demanda en motores de propensión, pricing dinámico y elasticidad de taquilla.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46538</TotalTime>
  <Words>6</Words>
  <Application>Microsoft Macintosh PowerPoint</Application>
  <PresentationFormat>Panorámica</PresentationFormat>
  <Paragraphs>5</Paragraphs>
  <Slides>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Montserrat</vt:lpstr>
      <vt:lpstr>Tema de Office</vt:lpstr>
      <vt:lpstr>Titulo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Hot Seat</dc:title>
  <dc:creator>Nicolas Paz</dc:creator>
  <cp:lastModifiedBy>Valentina Londoño Ramirez</cp:lastModifiedBy>
  <cp:revision>40</cp:revision>
  <dcterms:created xsi:type="dcterms:W3CDTF">2025-02-26T14:42:43Z</dcterms:created>
  <dcterms:modified xsi:type="dcterms:W3CDTF">2026-08-29T20:57:57Z</dcterms:modified>
</cp:coreProperties>
</file>