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300" r:id="rId3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656"/>
    <a:srgbClr val="A64444"/>
    <a:srgbClr val="747474"/>
    <a:srgbClr val="AEAEAE"/>
    <a:srgbClr val="000000"/>
    <a:srgbClr val="171717"/>
    <a:srgbClr val="730503"/>
    <a:srgbClr val="EB8181"/>
    <a:srgbClr val="A03836"/>
    <a:srgbClr val="8C18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7C860-5ADA-984C-95B1-EC5540EF2561}" v="1730" dt="2025-06-03T11:13:12.824"/>
    <p1510:client id="{78150E8C-1977-8D54-46D1-76837E65EA46}" v="17" dt="2025-06-03T11:23:37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57"/>
    <p:restoredTop sz="94558"/>
  </p:normalViewPr>
  <p:slideViewPr>
    <p:cSldViewPr snapToGrid="0">
      <p:cViewPr varScale="1">
        <p:scale>
          <a:sx n="121" d="100"/>
          <a:sy n="121" d="100"/>
        </p:scale>
        <p:origin x="10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5FD67-EC71-47D1-90CE-86339F00FC6F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BA357-0328-47D9-8533-190B4B6F8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116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BD0A-E63F-B5BE-2332-104F310CF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6251D4-31A1-ABB9-9F16-8142C4B50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D2B31A-FB35-B52F-AF82-2A0B5D05B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Fíjense en la estructura de árbol: el negocio habla en términos de 6 arquetipos para planear eventos, pero el motor de datos opera en micro-clusters. El puente entre la ingeniería y el negocio es label_auto, garantizando que todo agrupamiento técnico tenga un sentido comercial transparente.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EF299D-8AB3-C0C7-5D94-C86B074E8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6BA357-0328-47D9-8533-190B4B6F8752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1730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presentamos los resultados de la marcha blanca sobre datos transaccionales reales descargados de Azure. Ambos modelos corrieron congelados, sin re-entrenar una sola línea, demostrando cómo opera el pipeline en producción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catálogo v3.0 no fue producto de intuición: cada sub-espacio se optimizó independientemente con curvas Codo-Davies Bouldin. Excluimos deliberadamente dos grupos degenerados que tenían solo 3 filas en pruebas tempranas para mantener un catálogo industrial robusto con estabilidad bootstrap superior a 0.88 en todas las particiones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scoring corre en milisegundos y en estricta cascada: primero garantizamos calidad física del dato, luego v2.5 asigna el arquetipo general, y finalmente el sub-modelo especializado desciende al micro-cluster. Si hay duda geométrica, el sistema no inventa certeza: prende la alarma de frontera.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marcha blanca demuestra el doble etiquetado sobre 1,324 filas reales de Azure GOLD. A la izquierda, los 6 arquetipos héroes de portada; a la derecha, la matriz de distribución sobre los 10 recintos con mayor volumen, mostrando cómo conviven los arquetipos según la tipología del 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modelo, cinco escaleras: de un teatro de 400 butacas a un estadio — la jerarquía interna se respeta en todos los tamaños. En este auditorio de 240 butacas en Manizales no se fuerzan palcos inexistentes: desciende limpiamente de Platea General a Balcón Popular, capturando con honestidad una frontera en el balcón central difuso.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modelo, cinco escaleras: de un teatro de 400 butacas a un estadio — la jerarquía interna se respeta en todos los tamaños. En el Teatro Gaitán, la platea frontal se estratifica en Centro ($200k), Lateral ($176k) y Posterior ($152k), mientras que el balcón delantero ($100k) se enciende como frontera honesta frente a la zona preferencial.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modelo, cinco escaleras: de un teatro de 400 butacas a un estadio — la jerarquía interna se respeta en todos los tamaños. En un formato mediano de arena, Tribuna Fan lidera como VIP híbrido, las plateas ocupan el segmento preferencial, y el segundo piso se clasifica limpiamente en popular, aislando como frontera la fila de transición.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modelo, cinco escaleras: de un teatro de 400 butacas a un estadio — la jerarquía interna se respeta en todos los tamaños. Con 13 mil personas y 12 localidades, la escalera completa convive sin colapsar: Palcos y Lounges en VIP, Platea Diamante en Preferencial, y la gradación de pisos 3 y 4 en Balcón Popular, con frontera en Platea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modelo, cinco escaleras: de un teatro de 400 butacas a un estadio — la jerarquía interna se respeta en todos los tamaños. En el Metropolitano de Barranquilla con casi 45 mil butacas, la topología deportiva pura se respeta: Occidental y Oriental son tratadas como VIP/Palcos con fronteras en las bandejas altas, y las tribunas Norte y Sur descienden a Popular.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arquetipo, distintos micro-clusters: la granularidad interna es la feature de backend; el arquetipo es el lenguaje de negocio. Observen cómo dentro de Preferencial distinguimos plateas centrales de laterales y posteriores; y en VIP aislamos palcos puros frente a balcones mixtos.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arquetipo, distintos micro-clusters: la granularidad interna es la feature de backend; el arquetipo es el lenguaje de negocio. En eventos masivos, Popular separa pisos altos de balcones, mientras Grada General aísla tiquetes de festival de localidades de admisión por gradería.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sistema sabe lo que no sabe: las fronteras no inventan certeza ficticia sino que encienden banderas de auditoría; los micro-clusters híbridos capturan recintos con nomenclatura mixta sin colapsar la asignación; y Admisión Única resuelve determinísticamente eventos mono-zona al 100% de confianza.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muestra se concentra en Admisión Única (AU-0 con 48.9%) y Platea General (PGI-2 con 6.2%); los huecos en POP-3 o GGM-2 reflejan el sesgo del subset limpio del blob, no del modelo — con el blob regenerado esta curva se estabiliza.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evidencia no termina en las diapositivas: las 1,324 asignaciones completas, filtrables y con formato de porcentaje están disponibles en el anexo de Excel generado con openpyxl, además del CSV canónico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nivel de calidad matemática, el modelo superó todas sus compuertas: confianza geométrica de 63%, apenas 14% de registros en frontera —muy por debajo del límite de alarma del 20%— y 100% de cobertura. Más aún: los 5 sub-espacios multi-zona tienen documentada una estabilidad bootstrap-ARI superior a 0.88 en réplicas al 80%, lo que garantiza reproducibilidad ante re-entrenamientos.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Debemos ser transparentes con el comité: 1,324 filas certifican que el código no se rompe y que las reglas filtran la basura, pero no constituyen una prueba estadística válida. El blob de prueba que recibimos tenía 90% de duplicados y funciones cortadas a la mitad. Ya entregamos el reporte formal de auditoría a Data Engineering con 5 criterios de aceptación para el nuevo lote.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hoja de ruta es clara: una vez Data Engineering publique el blob curado con las 5 condiciones pactadas, ejecutaremos el protocolo final de drift. Con eso, y tras definir la política comercial para precios en cero en la versión 2.6, los micro-clusters quedarán listos para integrarse al pricing dinámico de la compañía.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7F76A-B1D3-417A-8521-2307E64CE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1F74F3-1A41-5FE7-C026-4C21A6E01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7EF09-EBC1-55E1-498A-5CF71E08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615336-14F5-5DC2-D65B-918FB415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B2C69B-784F-1484-EAC5-89D3ED54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9044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9958C-FF82-35D5-D16C-2D1670DE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4AC815-FF7F-7A02-11BF-C62597C35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493151-4DA2-7B8B-FD02-7D932EB05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A0197F-DE16-810F-91D9-6C4DFF09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C76A77-8647-AD6A-F639-E8A71410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5287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37E60-3E63-A57B-213C-C69202FC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93DBA7-0974-0350-0D12-5FC8E83FB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176A03-CC7B-336A-7B8C-A7B56BB3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394BD8-9B63-A7E2-6852-4EAC03B0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8CA05F-CAA3-78F6-AAB4-91E0D1EE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124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C4B83-28B9-19E1-AADC-53E816C0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D168F-AB53-226B-EE1E-CF657BE96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6CFD7F-377C-1913-A477-7C45C59B5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59E6CB-B419-DE97-A883-60809910B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192D90-9D57-FE9A-7860-0E5C648B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B5C3DF-DDDD-7FB3-E148-54EAE537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239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BD944-176A-09E4-8EB5-D5302064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690F58-99E2-F025-FEDC-DCAA0662C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655F7E-F27E-D259-E532-E5D303237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D3ECA1-EF03-D77F-B325-FF5B5CDF3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C93F854-38B7-974D-5FFC-5BC32D9FD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BD7746-8273-7E43-8C5A-19CD71A1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4EB7F2-CF86-3D07-978E-42BED0AF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BEF855-1CBF-7404-E409-F28E505F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319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67F24-61D2-3D87-D57E-F7E184C6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2E5522-0904-2830-8129-F2A22858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9006F7-183C-9037-FE82-4513B0C4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36EC8C9-BF28-3371-B3C6-26AF2ECB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857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F082E7-EFF7-965D-886D-5ECFBC52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3E3A01-1795-49DE-18C4-E46DB2CC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80031C-A226-BB82-9F3E-00F0B6EC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9349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7A1C8-F9C6-6943-D132-A751B184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9649C3-39B5-740E-2928-318F7A8F8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80B87A-52C7-D636-69C3-8F1CF5EAB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8EE230-E45A-1686-D7E3-590160D6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58BA3C-2AEB-3AB5-CB2A-AC0C25C85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57D043-25F4-6482-6AD2-A1BB8E70D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408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E14FC-3AD3-3608-FAC3-39E54B9D5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A3303C-9C5B-60C1-2E0C-A1BB3A698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6BC4CD-C43D-D5A6-61A6-1FBB05737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B24AE5-DF88-43DD-6A28-9328B064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B1A404-0E81-7EC9-7FDD-5BB82BE7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9D8146-25B4-52B4-24A7-03E75748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63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C30DF-8694-30FF-A7F3-FDD70B4A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F7C3D2-35E8-D7B5-C92C-B2951E8AB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F7CBAB-FF35-70A3-7C3C-B2AEF759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64445-643D-E38B-BC7D-B9BBFD64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306E5B-1772-DAA5-17BD-3B588B83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826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5CEEE4-3BCB-5EEF-B9D6-A7D51D446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C574AA-A3AC-56A6-0350-96EC3D9C7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F1E583-436C-D418-7381-3A6FDA28E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0FB48E-AE98-97BA-A6B5-E02DD780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4799E-7772-E626-11AC-E119E5BC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09533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862ADA-D906-8889-78BA-70F965B6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6FF7BA-B21A-288F-082A-F3FB0BCC2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7624A2-67F2-8817-DDE6-7833677C7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1BA2DB-DD42-A209-E402-625B6C84E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02E29D-735A-0F44-C5B6-DC44F8E1D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3932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EBE1D-FD1E-E453-25C4-0DDD6C5EF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2011680"/>
            <a:ext cx="8686800" cy="1371600"/>
          </a:xfrm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0B2545"/>
                </a:solidFill>
                <a:latin typeface="Montserrat"/>
              </a:defRPr>
            </a:pPr>
            <a:r>
              <a:t>Micro-Clusters y Arquetipos de Demanda</a:t>
            </a:r>
            <a:br/>
            <a:r>
              <a:t>Doble Etiquetado en Marcha Blanca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2CAB7C-BEB6-A500-41FC-24DFBE7F1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3657600"/>
            <a:ext cx="8686800" cy="548640"/>
          </a:xfrm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134074"/>
                </a:solidFill>
                <a:latin typeface="Montserrat"/>
              </a:defRPr>
            </a:pPr>
            <a:r>
              <a:t>Shadow Testing en Azure Capa GOLD | Macro v2.5 + Micro v3.0 | Equipo BI &amp; Data Science TuBoleta</a:t>
            </a:r>
          </a:p>
        </p:txBody>
      </p:sp>
    </p:spTree>
    <p:extLst>
      <p:ext uri="{BB962C8B-B14F-4D97-AF65-F5344CB8AC3E}">
        <p14:creationId xmlns:p14="http://schemas.microsoft.com/office/powerpoint/2010/main" val="208308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D84AF-EE49-8536-394D-4712FFDE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ARQUITECTURA JERÁRQUICA DE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El Modelo en Dos Niveles: Del Micro-Cluster Técnico al Arquetipo de Negocio (Rollup 1:1)</a:t>
            </a:r>
          </a:p>
        </p:txBody>
      </p:sp>
      <p:pic>
        <p:nvPicPr>
          <p:cNvPr id="4" name="Picture 3" descr="fig_arbol_arquetipos_micro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80160"/>
            <a:ext cx="731520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280160"/>
            <a:ext cx="3200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1371600"/>
            <a:ext cx="2926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34074"/>
                </a:solidFill>
                <a:latin typeface="Montserrat"/>
              </a:defRPr>
            </a:pPr>
            <a:r>
              <a:t>Nivel 1 (Macro de Negocio):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Montserrat"/>
              </a:defRPr>
            </a:pPr>
            <a:r>
              <a:t>6 Arquetipos de demanda que gobiernan pricing y contingentes.</a:t>
            </a:r>
          </a:p>
          <a:p>
            <a:pPr>
              <a:spcAft>
                <a:spcPts val="200"/>
              </a:spcAft>
              <a:defRPr sz="1200" b="1">
                <a:solidFill>
                  <a:srgbClr val="134074"/>
                </a:solidFill>
                <a:latin typeface="Montserrat"/>
              </a:defRPr>
            </a:pPr>
            <a:r>
              <a:t>Nivel 2 (Micro-Cluster):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Montserrat"/>
              </a:defRPr>
            </a:pPr>
            <a:r>
              <a:t>Particiones especializadas por patrones léxicos y arquitectónicos.</a:t>
            </a:r>
          </a:p>
          <a:p>
            <a:pPr>
              <a:spcAft>
                <a:spcPts val="200"/>
              </a:spcAft>
              <a:defRPr sz="1200" b="1">
                <a:solidFill>
                  <a:srgbClr val="134074"/>
                </a:solidFill>
                <a:latin typeface="Montserrat"/>
              </a:defRPr>
            </a:pPr>
            <a:r>
              <a:t>Invarianza Rollup 1:1: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Montserrat"/>
              </a:defRPr>
            </a:pPr>
            <a:r>
              <a:t>Todo micro-cluster pertenece estrictamente a un único arquetipo.</a:t>
            </a:r>
          </a:p>
          <a:p>
            <a:pPr>
              <a:spcAft>
                <a:spcPts val="200"/>
              </a:spcAft>
              <a:defRPr sz="1200" b="1">
                <a:solidFill>
                  <a:srgbClr val="134074"/>
                </a:solidFill>
                <a:latin typeface="Montserrat"/>
              </a:defRPr>
            </a:pPr>
            <a:r>
              <a:t>El Puente Semántico: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Montserrat"/>
              </a:defRPr>
            </a:pPr>
            <a:r>
              <a:t>label_auto traduce centroides numéricos a etiquetas legibles de negocio.</a:t>
            </a:r>
          </a:p>
        </p:txBody>
      </p:sp>
    </p:spTree>
    <p:extLst>
      <p:ext uri="{BB962C8B-B14F-4D97-AF65-F5344CB8AC3E}">
        <p14:creationId xmlns:p14="http://schemas.microsoft.com/office/powerpoint/2010/main" val="276265945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CATÁLOGO CANÓNICO DE MICRO-CLUSTERS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Estructura Formal de los 18 Micro-Clusters Activos, Pureza Léxica y Estabilidad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  <a:latin typeface="Montserrat"/>
              </a:defRPr>
            </a:pPr>
            <a:r>
              <a:t>Admisión Única y Popular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AU-0 | Admisión Única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15,375 locs (45.5%) | Nodo terminal determinístico puro.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POP-0 | hibrido_k0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1,549 locs | Balcón dominante (40.0% pureza).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POP-1 | hibrido_k1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1,506 locs | Piso alto dominante (41.2% pureza).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POP-2 | hibrido_k2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1,576 locs | Balcón y piso alto (55.1% pureza).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POP-3 | hibrido_k3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1,223 locs | Pisos superiores de arena/estadio.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  <a:latin typeface="Montserrat"/>
              </a:defRPr>
            </a:pPr>
            <a:r>
              <a:t>VIP y Preferencial Frontal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VIP-0 | hibrido_k0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799 locs | Palcos mixtos con balcón.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VIP-1 | hibrido_k1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2,347 locs | Palcos teatro y suites (51.0%).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VIP-2 | hibrido_k2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2,029 locs | Palcos puros de alta exclusividad (58.8%).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PPF-0 | Platea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687 locs | Platea pura frontal (99.8% pureza).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PPF-1 | Platea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838 locs | Platea teatro canónica (93.4% pureza).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PPF-2 | Platea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1,552 locs | Platea delantera y central (98.1% pureza).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  <a:latin typeface="Montserrat"/>
              </a:defRPr>
            </a:pPr>
            <a:r>
              <a:t>Platea General y Grada Masiva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PGI-0 | hibrido_k0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768 locs | Preferencial intermedio.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PGI-1 | hibrido_k1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840 locs | Lunetas y balcones bajos.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PGI-2 | hibrido_k2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782 locs | Lunetas intermedias de teatro.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PGI-3 | hibrido_k3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950 locs | Sectores generales de platea.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GGM-0 | General Tiquete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363 locs | Tiquete masivo puro (93.7%).</a:t>
            </a:r>
          </a:p>
          <a:p>
            <a:pPr>
              <a:defRPr sz="1050" b="1">
                <a:solidFill>
                  <a:srgbClr val="134074"/>
                </a:solidFill>
                <a:latin typeface="Montserrat"/>
              </a:defRPr>
            </a:pPr>
            <a:r>
              <a:t>• GGM-1..2 | Mixtos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 591 locs | Gradas generales y festivales.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MECÁNICA DE INFERENCIA EN CASCADA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El Flujo de Scoring en 3 Pasos: De la Consistencia Física a la Asignación Jerárquica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34074"/>
                </a:solidFill>
                <a:latin typeface="Montserrat"/>
              </a:defRPr>
            </a:pPr>
            <a:r>
              <a:t>PASO 1: Contrato de Consistencia y Features Ex-Ante</a:t>
            </a:r>
          </a:p>
          <a:p>
            <a:pPr>
              <a:defRPr sz="1100">
                <a:solidFill>
                  <a:srgbClr val="212529"/>
                </a:solidFill>
                <a:latin typeface="Montserrat"/>
              </a:defRPr>
            </a:pPr>
            <a:r>
              <a:t>Aplica las 9 reglas de consistencia de negocio (aforos &gt; 0, precios &gt; 0, ventas &lt;= cuota, exclusión de patrones de parqueadero). Canoniza la tipología de venue (type_site) y calcula percentiles relativos por función.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27248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34074"/>
                </a:solidFill>
                <a:latin typeface="Montserrat"/>
              </a:defRPr>
            </a:pPr>
            <a:r>
              <a:t>PASO 2: Inferencia Nivel 1 (Macro v2.5)</a:t>
            </a:r>
          </a:p>
          <a:p>
            <a:pPr>
              <a:defRPr sz="1100">
                <a:solidFill>
                  <a:srgbClr val="212529"/>
                </a:solidFill>
                <a:latin typeface="Montserrat"/>
              </a:defRPr>
            </a:pPr>
            <a:r>
              <a:t>Separa monozona (Admisión Única determinística) de multi-zona. En multi-zona proyecta en espacio mixto 36D y aplica asignación biyectiva húngara hacia uno de los 5 arquetipos macro.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681728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34074"/>
                </a:solidFill>
                <a:latin typeface="Montserrat"/>
              </a:defRPr>
            </a:pPr>
            <a:r>
              <a:t>PASO 3: Especialización Nivel 2 (Micro v3.0) y Alerta de Frontera</a:t>
            </a:r>
          </a:p>
          <a:p>
            <a:pPr>
              <a:defRPr sz="1100">
                <a:solidFill>
                  <a:srgbClr val="212529"/>
                </a:solidFill>
                <a:latin typeface="Montserrat"/>
              </a:defRPr>
            </a:pPr>
            <a:r>
              <a:t>El arquetipo macro invoca exclusivamente su sub-modelo K-Means especializado, calculando el micro_cluster_id y generando label_auto. Si la localidad cayó en frontera en Nivel 1, propaga segmento_incierto=True.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GALERÍA DE VALIDACIÓN EN MARCHA BLANCA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Doble Etiquetado en Vivo: Los 6 Arquetipos Héroes y Densidad en los Top 10 Recintos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670048" cy="1591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670048" cy="381853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89304"/>
            <a:ext cx="252374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Admisión Única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89445"/>
            <a:ext cx="252374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MEET &amp; GREET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MOVISTAR ARENA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$148.000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009688"/>
                </a:solidFill>
                <a:latin typeface="Montserrat"/>
              </a:defRPr>
            </a:pPr>
            <a:r>
              <a:t>• AU-0 (Admisión Única)</a:t>
            </a:r>
          </a:p>
          <a:p>
            <a:pPr>
              <a:defRPr sz="700" b="1">
                <a:solidFill>
                  <a:srgbClr val="009688"/>
                </a:solidFill>
                <a:latin typeface="Montserrat"/>
              </a:defRPr>
            </a:pPr>
            <a:r>
              <a:t>Conf: 100.0%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1280160"/>
            <a:ext cx="2670048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47872" y="1280160"/>
            <a:ext cx="2670048" cy="38185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289304"/>
            <a:ext cx="252374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VIP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307592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1689445"/>
            <a:ext cx="252374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PALCOS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BORA BORA MEDELLIN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$134.050 COP</a:t>
            </a:r>
          </a:p>
          <a:p>
            <a:pPr>
              <a:spcAft>
                <a:spcPts val="100"/>
              </a:spcAft>
              <a:defRPr sz="750" b="1">
                <a:solidFill>
                  <a:srgbClr val="E76F51"/>
                </a:solidFill>
                <a:latin typeface="Montserrat"/>
              </a:defRPr>
            </a:pPr>
            <a:r>
              <a:t>• VIP-0 (hibrido_k0)</a:t>
            </a:r>
          </a:p>
          <a:p>
            <a:pPr>
              <a:defRPr sz="700" b="1">
                <a:solidFill>
                  <a:srgbClr val="F4A261"/>
                </a:solidFill>
                <a:latin typeface="Montserrat"/>
              </a:defRPr>
            </a:pPr>
            <a:r>
              <a:t>Conf: 55.5%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99232"/>
            <a:ext cx="2670048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999232"/>
            <a:ext cx="2670048" cy="38185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08376"/>
            <a:ext cx="252374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Popular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0048" y="3026664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408517"/>
            <a:ext cx="252374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VISTA PARCIAL TERCER PISO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TEATRO MAYOR JULIO MARIO...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$26.800 COP</a:t>
            </a:r>
          </a:p>
          <a:p>
            <a:pPr>
              <a:spcAft>
                <a:spcPts val="100"/>
              </a:spcAft>
              <a:defRPr sz="750" b="1">
                <a:solidFill>
                  <a:srgbClr val="0B2545"/>
                </a:solidFill>
                <a:latin typeface="Montserrat"/>
              </a:defRPr>
            </a:pPr>
            <a:r>
              <a:t>• POP-1 (hibrido_k1)</a:t>
            </a:r>
          </a:p>
          <a:p>
            <a:pPr>
              <a:defRPr sz="700" b="1">
                <a:solidFill>
                  <a:srgbClr val="F4A261"/>
                </a:solidFill>
                <a:latin typeface="Montserrat"/>
              </a:defRPr>
            </a:pPr>
            <a:r>
              <a:t>Conf: 52.8%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2999232"/>
            <a:ext cx="2670048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47872" y="2999232"/>
            <a:ext cx="2670048" cy="381853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3008376"/>
            <a:ext cx="252374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Platea General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3026664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3408517"/>
            <a:ext cx="252374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LUNETA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TEATRO FUNDADORES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$120.000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134074"/>
                </a:solidFill>
                <a:latin typeface="Montserrat"/>
              </a:defRPr>
            </a:pPr>
            <a:r>
              <a:t>• PGI-1 (hibrido_k1)</a:t>
            </a:r>
          </a:p>
          <a:p>
            <a:pPr>
              <a:defRPr sz="700" b="1">
                <a:solidFill>
                  <a:srgbClr val="009688"/>
                </a:solidFill>
                <a:latin typeface="Montserrat"/>
              </a:defRPr>
            </a:pPr>
            <a:r>
              <a:t>Conf: 61.6%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18304"/>
            <a:ext cx="2670048" cy="1591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718304"/>
            <a:ext cx="2670048" cy="38185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727448"/>
            <a:ext cx="252374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Preferencial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127589"/>
            <a:ext cx="252374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PLATEA LATERAL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TEATRO JORGE ELIECER GAI...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$176.000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F4A261"/>
                </a:solidFill>
                <a:latin typeface="Montserrat"/>
              </a:defRPr>
            </a:pPr>
            <a:r>
              <a:t>• PPF-2 (Platea)</a:t>
            </a:r>
          </a:p>
          <a:p>
            <a:pPr>
              <a:defRPr sz="700" b="1">
                <a:solidFill>
                  <a:srgbClr val="009688"/>
                </a:solidFill>
                <a:latin typeface="Montserrat"/>
              </a:defRPr>
            </a:pPr>
            <a:r>
              <a:t>Conf: 69.7%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47872" y="4718304"/>
            <a:ext cx="2670048" cy="1591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47872" y="4718304"/>
            <a:ext cx="2670048" cy="381853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21024" y="4727448"/>
            <a:ext cx="252374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Grada General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1024" y="5127589"/>
            <a:ext cx="252374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GENERAL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PARQUE  DE LAS  LUCES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$157.000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6C757D"/>
                </a:solidFill>
                <a:latin typeface="Montserrat"/>
              </a:defRPr>
            </a:pPr>
            <a:r>
              <a:t>• GGM-0 (General Tiquete)</a:t>
            </a:r>
          </a:p>
          <a:p>
            <a:pPr>
              <a:defRPr sz="700" b="1">
                <a:solidFill>
                  <a:srgbClr val="009688"/>
                </a:solidFill>
                <a:latin typeface="Montserrat"/>
              </a:defRPr>
            </a:pPr>
            <a:r>
              <a:t>Conf: 67.2%</a:t>
            </a:r>
          </a:p>
        </p:txBody>
      </p:sp>
      <p:pic>
        <p:nvPicPr>
          <p:cNvPr id="31" name="Picture 30" descr="fig_matriz_recintos_arquetip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51206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ESTRATO MICRO (≤ 500 AFORO): MANIZALES (AUDITORIO CULTURAL)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Tributo a Raphael @ Batuta Caldas (Aforo: 240) — Descenso Limpio sin Forzar Palcos Inexistentes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5486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44168"/>
            <a:ext cx="1042416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ESCALERA DE EVENTO: TRIBUTO A RAPHAEL YO ME LLAMO</a:t>
            </a:r>
          </a:p>
          <a:p>
            <a:pPr>
              <a:defRPr sz="850">
                <a:solidFill>
                  <a:srgbClr val="E0F2F1"/>
                </a:solidFill>
                <a:latin typeface="Montserrat"/>
              </a:defRPr>
            </a:pPr>
            <a:r>
              <a:t>Recinto: BATUTA CALDAS - MANIZALES  |  Aforo Total: 240 personas  |  Localidades: 5  |  Estrato: MICRO (MICRO)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448056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02536"/>
            <a:ext cx="2880360" cy="374904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$81.818 COP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7510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PRIMER PISO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Platea General  •  PGI-0 (hibrido_k0)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0253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200253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0" y="2002536"/>
            <a:ext cx="435171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98424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30.7%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10698480" cy="448056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505456"/>
            <a:ext cx="2433314" cy="374904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$63.636 COP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7802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CENTRO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Platea General  •  PGI-1 (hibrido_k1)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50545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50545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0" y="2505456"/>
            <a:ext cx="392961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48716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27.7%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71800"/>
            <a:ext cx="10698480" cy="44805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008376"/>
            <a:ext cx="1986269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$45.454 COP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98094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BALCÓN - GRADERÍA DERECHA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POP-2 (hibrido_k2)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300837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300837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75520" y="3008376"/>
            <a:ext cx="229222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99008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16.2%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474720"/>
            <a:ext cx="10698480" cy="448056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3511296"/>
            <a:ext cx="1986269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$45.454 COP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48386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BALCÓN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POP-2 (hibrido_k2)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3511296"/>
            <a:ext cx="868680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FRONTERA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351129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351129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0" y="3511296"/>
            <a:ext cx="210658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349300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14.9%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977639"/>
            <a:ext cx="10698480" cy="44805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4014215"/>
            <a:ext cx="1986269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$45.454 COP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86783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BALCÓN - GRADERÍA IZQUIERDA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POP-2 (hibrido_k2)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4014215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20" y="4014215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875520" y="4014215"/>
            <a:ext cx="229222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3995927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16.2%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ESTRATO PEQUEÑO (500–2.000 AFORO): TEATRO HISTÓRICO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Hans Zimmer vs John Williams @ Teatro Jorge Eliécer Gaitán (Aforo: 1,650) — Platea Frontal y Balcón Frontera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5486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44168"/>
            <a:ext cx="1042416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ESCALERA DE EVENTO: HANS ZIMMER VS JOHN WILLIAMS</a:t>
            </a:r>
          </a:p>
          <a:p>
            <a:pPr>
              <a:defRPr sz="850">
                <a:solidFill>
                  <a:srgbClr val="E0F2F1"/>
                </a:solidFill>
                <a:latin typeface="Montserrat"/>
              </a:defRPr>
            </a:pPr>
            <a:r>
              <a:t>Recinto: TEATRO JORGE ELIECER GAITAN  |  Aforo Total: 1,650 personas  |  Localidades: 6  |  Estrato: PEQUENO (PEQUENO)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448056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02536"/>
            <a:ext cx="28803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$200.000 COP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7510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PLATEA CENTRO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Preferencial  •  PPF-2 (Platea)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200253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0" y="2002536"/>
            <a:ext cx="787423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198424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Conf: 55.6%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10698480" cy="448056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505456"/>
            <a:ext cx="2638958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$176.000 COP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47802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PLATEA LATERAL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Preferencial  •  PPF-2 (Platea)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50545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0" y="2505456"/>
            <a:ext cx="988099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248716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Conf: 69.7%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10698480" cy="448056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008376"/>
            <a:ext cx="2397556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$152.000 COP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98094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PLATEA POSTERIOR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Preferencial  •  PPF-0 (Platea)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300837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5520" y="3008376"/>
            <a:ext cx="639099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99008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Conf: 45.1%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474720"/>
            <a:ext cx="10698480" cy="448056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3511296"/>
            <a:ext cx="2115921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$124.000 COP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48386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PALCO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VIP  •  VIP-2 (hibrido_k2)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51129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75520" y="351129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75520" y="3511296"/>
            <a:ext cx="624081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349300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44.0%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977639"/>
            <a:ext cx="10698480" cy="448056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4014215"/>
            <a:ext cx="1874519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$100.000 COP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986783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BALCON DELANTERO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POP-0 (hibrido_k0)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4014215"/>
            <a:ext cx="868680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FRONTERA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4014215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0" y="4014215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75520" y="4014215"/>
            <a:ext cx="164592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3995927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4.7%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480560"/>
            <a:ext cx="10698480" cy="44805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" y="4517136"/>
            <a:ext cx="1672547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$79.920 COP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48970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BALCON POSTERIOR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POP-0 (hibrido_k0)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451713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20" y="451713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875520" y="4517136"/>
            <a:ext cx="545490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449884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38.5%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ESTRATO MEDIANO (2.000–8.000 AFORO): ARENA FORMATO MEDIANO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Lucho Mellera @ Movistar Arena (Aforo: 6,435) — Tribuna Fan VIP, Plateas Frontales y Segundo Piso Popular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5486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44168"/>
            <a:ext cx="1042416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ESCALERA DE EVENTO: EL UNIPERSONAL DE LUCHO MELLERA</a:t>
            </a:r>
          </a:p>
          <a:p>
            <a:pPr>
              <a:defRPr sz="850">
                <a:solidFill>
                  <a:srgbClr val="E0F2F1"/>
                </a:solidFill>
                <a:latin typeface="Montserrat"/>
              </a:defRPr>
            </a:pPr>
            <a:r>
              <a:t>Recinto: MOVISTAR ARENA  |  Aforo Total: 6,435 personas  |  Localidades: 7  |  Estrato: MEDIANO (MEDIANO)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448056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02536"/>
            <a:ext cx="2880360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$350.000 COP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7510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TRIBUNA FAN SUR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VIP  •  VIP-1 (hibrido_k1)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0253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200253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0" y="2002536"/>
            <a:ext cx="354698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98424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25.0%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10698480" cy="448056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505456"/>
            <a:ext cx="2592977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$300.000 COP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7802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PLATEA 101 - 103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Preferencial  •  PPF-2 (Platea)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250545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0" y="2505456"/>
            <a:ext cx="749146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48716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Conf: 52.9%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71800"/>
            <a:ext cx="10698480" cy="448056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008376"/>
            <a:ext cx="2219379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$235.000 COP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8094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PLATEA 104 - 106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Preferencial  •  PPF-0 (Platea)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300837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0" y="3008376"/>
            <a:ext cx="364610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99008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25.7%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474720"/>
            <a:ext cx="10698480" cy="448056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3511296"/>
            <a:ext cx="1903258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$180.000 COP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48386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SEGUNDO PISO 202 - 204 / 216 - 218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POP-0 (hibrido_k0)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3511296"/>
            <a:ext cx="868680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FRONTERA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351129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351129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75520" y="3511296"/>
            <a:ext cx="164592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49300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5.5%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977639"/>
            <a:ext cx="10698480" cy="44805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4014215"/>
            <a:ext cx="1903258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$180.000 COP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986783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SEGUNDO PISO 207 - 213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POP-0 (hibrido_k0)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014215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4014215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75520" y="4014215"/>
            <a:ext cx="380564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3995927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26.9%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480560"/>
            <a:ext cx="10698480" cy="44805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" y="4517136"/>
            <a:ext cx="1903258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$180.000 COP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48970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SEGUNDO PISO 205 - 206 / 214 - 215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POP-0 (hibrido_k0)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451713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5520" y="451713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875520" y="4517136"/>
            <a:ext cx="443592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449884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31.3%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983480"/>
            <a:ext cx="10698480" cy="44805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" y="5020056"/>
            <a:ext cx="1443445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$100.000 COP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499262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SEGUNDO PISO 201 / 209 VISTA PAR...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POP-1 (hibrido_k1)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502005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75520" y="502005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875520" y="5020056"/>
            <a:ext cx="691416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500176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Conf: 48.8%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ESTRATO GRANDE (8.000–20.000 AFORO): ARENA MASIVA METROPOLITANA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Carlos Vives @ Daviarena Medellín (Aforo: 12,979) — Escala Completa de 12 Localidades en Concierto Masivo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5486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44168"/>
            <a:ext cx="1042416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ESCALERA DE EVENTO: CARLOS VIVES MEDELLÍN</a:t>
            </a:r>
          </a:p>
          <a:p>
            <a:pPr>
              <a:defRPr sz="850">
                <a:solidFill>
                  <a:srgbClr val="E0F2F1"/>
                </a:solidFill>
                <a:latin typeface="Montserrat"/>
              </a:defRPr>
            </a:pPr>
            <a:r>
              <a:t>Recinto: DAVIARENA  |  Aforo Total: 12,979 personas  |  Localidades: 12  |  Estrato: GRANDE (GRANDE)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310896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02536"/>
            <a:ext cx="2880360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$699.000 COP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75104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TRIBUNA FAN 1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VIP  •  VIP-1 (hibrido_k1)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02536"/>
            <a:ext cx="822960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2002536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0" y="2002536"/>
            <a:ext cx="299063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984248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21.1%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10698480" cy="310896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368296"/>
            <a:ext cx="2739340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$650.000 COP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340864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PALCOS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VIP  •  VIP-1 (hibrido_k1)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368296"/>
            <a:ext cx="822960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368296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0" y="2368296"/>
            <a:ext cx="541208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350008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38.2%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697479"/>
            <a:ext cx="10698480" cy="310896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2734055"/>
            <a:ext cx="2448669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$549.000 COP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706623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PLATEA DIAMANTE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Preferencial  •  PPF-2 (Platea)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2734055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0" y="2734055"/>
            <a:ext cx="270955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2715767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19.1%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063239"/>
            <a:ext cx="10698480" cy="310896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3099815"/>
            <a:ext cx="2160875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$449.000 COP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072383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PRIMAVERA LOUNGE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VIP  •  VIP-2 (hibrido_k2)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099815"/>
            <a:ext cx="822960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3099815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75520" y="3099815"/>
            <a:ext cx="624715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081527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44.1%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429000"/>
            <a:ext cx="10698480" cy="310896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3465576"/>
            <a:ext cx="2016978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$399.000 COP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438144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PISO 3 302 - 303 Y  313 - 314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VIP  •  VIP-2 (hibrido_k2)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3465576"/>
            <a:ext cx="822960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3465576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75520" y="3465576"/>
            <a:ext cx="269534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3447288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19.0%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794759"/>
            <a:ext cx="10698480" cy="310896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" y="3831335"/>
            <a:ext cx="1930639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$369.000 COP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3803903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PLATEA VIP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Preferencial  •  PPF-0 (Platea)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31335"/>
            <a:ext cx="868680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FRONTERA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5520" y="3831335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875520" y="3831335"/>
            <a:ext cx="192881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3813047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13.6%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160520"/>
            <a:ext cx="10698480" cy="310896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" y="4197096"/>
            <a:ext cx="1614066" cy="23774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$259.000 COP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4169664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PLATEA GENERAL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Popular  •  POP-3 (hibrido_k3)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4197096"/>
            <a:ext cx="868680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FRONTERA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23960" y="4197096"/>
            <a:ext cx="822960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75520" y="4197096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875520" y="4197096"/>
            <a:ext cx="164592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20" y="4178808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10.1%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526279"/>
            <a:ext cx="10698480" cy="31089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2960" y="4562855"/>
            <a:ext cx="1527728" cy="23774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$229.000 COP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4535423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PISO 3 305 - 311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Popular  •  POP-2 (hibrido_k2)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63840" y="4562855"/>
            <a:ext cx="822960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75520" y="4562855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875520" y="4562855"/>
            <a:ext cx="540082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20" y="4544567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38.1%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4892040"/>
            <a:ext cx="10698480" cy="31089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2960" y="4928616"/>
            <a:ext cx="1441390" cy="23774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$199.000 COP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0" y="4901184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PISO 3 304 Y 312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Popular  •  POP-1 (hibrido_k1)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63840" y="4928616"/>
            <a:ext cx="822960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75520" y="4928616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875520" y="4928616"/>
            <a:ext cx="735213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75520" y="4910328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Conf: 51.9%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5257800"/>
            <a:ext cx="10698480" cy="31089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22960" y="5294376"/>
            <a:ext cx="1320516" cy="23774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$157.000 COP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40480" y="5266944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PISO 4 407 - 413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Popular  •  POP-0 (hibrido_k0)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863840" y="5294376"/>
            <a:ext cx="822960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75520" y="5294376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875520" y="5294376"/>
            <a:ext cx="671591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75520" y="5276088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Conf: 47.4%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5623559"/>
            <a:ext cx="10698480" cy="31089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22960" y="5660135"/>
            <a:ext cx="1239934" cy="23774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$129.000 COP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0" y="5632703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PISO 4 404 - 406 Y 414 - 416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Popular  •  POP-1 (hibrido_k1)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63840" y="5660135"/>
            <a:ext cx="822960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75520" y="5660135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875520" y="5660135"/>
            <a:ext cx="660814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75520" y="5641847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Conf: 46.6%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" y="5989319"/>
            <a:ext cx="10698480" cy="31089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22960" y="6025895"/>
            <a:ext cx="1153596" cy="23774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$99.000 COP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0480" y="5998463"/>
            <a:ext cx="3931920" cy="292607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PISO 4 402 - 403 Y 417 - 418</a:t>
            </a:r>
          </a:p>
          <a:p>
            <a:pPr>
              <a:defRPr sz="750">
                <a:solidFill>
                  <a:srgbClr val="6C757D"/>
                </a:solidFill>
                <a:latin typeface="Montserrat"/>
              </a:defRPr>
            </a:pPr>
            <a:r>
              <a:t>Popular  •  POP-1 (hibrido_k1)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863840" y="6025895"/>
            <a:ext cx="822960" cy="23774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875520" y="6025895"/>
            <a:ext cx="1417320" cy="237743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875520" y="6025895"/>
            <a:ext cx="626055" cy="23774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875520" y="6007607"/>
            <a:ext cx="141732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44.2%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ESTRATO ESTADIO (&gt; 20.000 AFORO): ESTADIO DEPORTIVO MASIVO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The Last Dance @ Estadio Metropolitano (Aforo: 44,586) — Topología Deportiva Pura: Occidental, Oriental y Tribunas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5486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44168"/>
            <a:ext cx="1042416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ESCALERA DE EVENTO: THE LAST DANCE - EL ULTIMO BAILE DEL REY DE AMÉRICA</a:t>
            </a:r>
          </a:p>
          <a:p>
            <a:pPr>
              <a:defRPr sz="850">
                <a:solidFill>
                  <a:srgbClr val="E0F2F1"/>
                </a:solidFill>
                <a:latin typeface="Montserrat"/>
              </a:defRPr>
            </a:pPr>
            <a:r>
              <a:t>Recinto: ESTADIO METROPOLITANO  |  Aforo Total: 44,586 personas  |  Localidades: 8  |  Estrato: ESTADIO (ESTADIO)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448056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02536"/>
            <a:ext cx="2880360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$178.500 COP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7510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OCCIDENTAL ALTA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VIP  •  VIP-0 (hibrido_k0)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02536"/>
            <a:ext cx="868680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FRONTERA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00253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200253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2002536"/>
            <a:ext cx="164592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98424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4.7%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68880"/>
            <a:ext cx="10698480" cy="448056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505456"/>
            <a:ext cx="2688771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$161.500 COP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47802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OCCIDENTAL BAJA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VIP  •  VIP-0 (hibrido_k0)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50545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250545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0" y="2505456"/>
            <a:ext cx="458335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248716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32.3%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71800"/>
            <a:ext cx="10698480" cy="448056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008376"/>
            <a:ext cx="2497182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$144.500 COP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98094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ORIENTAL ALTA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VIP  •  VIP-0 (hibrido_k0)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008376"/>
            <a:ext cx="868680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FRONTERA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300837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300837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75520" y="3008376"/>
            <a:ext cx="164592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99008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10.4%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474720"/>
            <a:ext cx="10698480" cy="448056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3511296"/>
            <a:ext cx="2401388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$136.000 COP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48386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ORIENTAL BAJA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VIP  •  VIP-0 (hibrido_k0)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51129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351129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875520" y="3511296"/>
            <a:ext cx="478379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349300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33.8%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977639"/>
            <a:ext cx="10698480" cy="44805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4014215"/>
            <a:ext cx="2018211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$102.000 COP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986783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SUR ALTA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POP-2 (hibrido_k2)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0" y="4014215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4014215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875520" y="4014215"/>
            <a:ext cx="311409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3995927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22.0%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480560"/>
            <a:ext cx="10698480" cy="44805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2960" y="4517136"/>
            <a:ext cx="2018211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$102.000 COP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448970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NORTE ALTA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POP-2 (hibrido_k2)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451713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0" y="451713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875520" y="4517136"/>
            <a:ext cx="312161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0" y="449884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22.0%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4983480"/>
            <a:ext cx="10698480" cy="44805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2960" y="5020056"/>
            <a:ext cx="1922417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$93.500 COP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499262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SUR BAJA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POP-2 (hibrido_k2)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63840" y="502005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75520" y="502005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875520" y="5020056"/>
            <a:ext cx="502843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75520" y="500176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35.5%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486400"/>
            <a:ext cx="10698480" cy="448056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2960" y="5522976"/>
            <a:ext cx="1922417" cy="37490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36576" tIns="9144" bIns="9144"/>
          <a:lstStyle/>
          <a:p>
            <a:pPr algn="l">
              <a:defRPr sz="950" b="1">
                <a:solidFill>
                  <a:srgbClr val="FFFFFF"/>
                </a:solidFill>
                <a:latin typeface="Montserrat"/>
              </a:defRPr>
            </a:pPr>
            <a:r>
              <a:t>$93.500 COP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5495544"/>
            <a:ext cx="3931920" cy="4297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spcAft>
                <a:spcPts val="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NORTE BAJA</a:t>
            </a:r>
          </a:p>
          <a:p>
            <a:pPr>
              <a:defRPr sz="800">
                <a:solidFill>
                  <a:srgbClr val="6C757D"/>
                </a:solidFill>
                <a:latin typeface="Montserrat"/>
              </a:defRPr>
            </a:pPr>
            <a:r>
              <a:t>Popular  •  POP-2 (hibrido_k2)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63840" y="5522976"/>
            <a:ext cx="822960" cy="37490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75520" y="5522976"/>
            <a:ext cx="1417320" cy="3749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875520" y="5522976"/>
            <a:ext cx="503022" cy="37490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5520" y="5504688"/>
            <a:ext cx="141732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800" b="1">
                <a:solidFill>
                  <a:srgbClr val="212529"/>
                </a:solidFill>
                <a:latin typeface="Montserrat"/>
              </a:defRPr>
            </a:pPr>
            <a:r>
              <a:t>Conf: 35.5%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EVIDENCIA POR SEGMENTO: SEGMENTO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Granularidad Interna en VIP y Preferencial Frontal (Micro-clusters VIP-0..2 y PPF-0..2)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489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4892" cy="58814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89304"/>
            <a:ext cx="2418588" cy="5698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VIP-0 • hibrido_k0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4892" y="1307592"/>
            <a:ext cx="685800" cy="53327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95734"/>
            <a:ext cx="2418588" cy="181672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PALCOS</a:t>
            </a:r>
          </a:p>
          <a:p>
            <a:pPr>
              <a:spcAft>
                <a:spcPts val="100"/>
              </a:spcAft>
              <a:defRPr sz="800">
                <a:solidFill>
                  <a:srgbClr val="6C757D"/>
                </a:solidFill>
                <a:latin typeface="Montserrat"/>
              </a:defRPr>
            </a:pPr>
            <a:r>
              <a:t>Recinto: BORA BORA MEDELLIN</a:t>
            </a:r>
          </a:p>
          <a:p>
            <a:pPr>
              <a:spcAft>
                <a:spcPts val="100"/>
              </a:spcAft>
              <a:defRPr sz="850" b="1">
                <a:solidFill>
                  <a:srgbClr val="134074"/>
                </a:solidFill>
                <a:latin typeface="Montserrat"/>
              </a:defRPr>
            </a:pPr>
            <a:r>
              <a:t>Precio: $134.050 COP</a:t>
            </a:r>
          </a:p>
          <a:p>
            <a:pPr>
              <a:spcAft>
                <a:spcPts val="100"/>
              </a:spcAft>
              <a:defRPr sz="800" b="1">
                <a:solidFill>
                  <a:srgbClr val="E76F51"/>
                </a:solidFill>
                <a:latin typeface="Montserrat"/>
              </a:defRPr>
            </a:pPr>
            <a:r>
              <a:t>• VIP-0 (hibrido_k0)</a:t>
            </a:r>
          </a:p>
          <a:p>
            <a:pPr>
              <a:defRPr sz="750" b="1">
                <a:solidFill>
                  <a:srgbClr val="F4A261"/>
                </a:solidFill>
                <a:latin typeface="Montserrat"/>
              </a:defRPr>
            </a:pPr>
            <a:r>
              <a:t>Conf: 55.5%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2716" y="1280160"/>
            <a:ext cx="256489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42716" y="1280160"/>
            <a:ext cx="2564892" cy="58814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5868" y="1289304"/>
            <a:ext cx="2418588" cy="5698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VIP-1 • hibrido_k1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76088" y="1307592"/>
            <a:ext cx="685800" cy="53327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1895734"/>
            <a:ext cx="2418588" cy="181672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PALCO</a:t>
            </a:r>
          </a:p>
          <a:p>
            <a:pPr>
              <a:spcAft>
                <a:spcPts val="100"/>
              </a:spcAft>
              <a:defRPr sz="800">
                <a:solidFill>
                  <a:srgbClr val="6C757D"/>
                </a:solidFill>
                <a:latin typeface="Montserrat"/>
              </a:defRPr>
            </a:pPr>
            <a:r>
              <a:t>Recinto: TEATRO JORGE ELIECER GAI...</a:t>
            </a:r>
          </a:p>
          <a:p>
            <a:pPr>
              <a:spcAft>
                <a:spcPts val="100"/>
              </a:spcAft>
              <a:defRPr sz="850" b="1">
                <a:solidFill>
                  <a:srgbClr val="134074"/>
                </a:solidFill>
                <a:latin typeface="Montserrat"/>
              </a:defRPr>
            </a:pPr>
            <a:r>
              <a:t>Precio: $129.000 COP</a:t>
            </a:r>
          </a:p>
          <a:p>
            <a:pPr>
              <a:spcAft>
                <a:spcPts val="100"/>
              </a:spcAft>
              <a:defRPr sz="800" b="1">
                <a:solidFill>
                  <a:srgbClr val="E76F51"/>
                </a:solidFill>
                <a:latin typeface="Montserrat"/>
              </a:defRPr>
            </a:pPr>
            <a:r>
              <a:t>• VIP-1 (hibrido_k1)</a:t>
            </a:r>
          </a:p>
          <a:p>
            <a:pPr>
              <a:defRPr sz="750" b="1">
                <a:solidFill>
                  <a:srgbClr val="F4A261"/>
                </a:solidFill>
                <a:latin typeface="Montserrat"/>
              </a:defRPr>
            </a:pPr>
            <a:r>
              <a:t>Conf: 46.8%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280160"/>
            <a:ext cx="256489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280160"/>
            <a:ext cx="2564892" cy="58814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289304"/>
            <a:ext cx="2418588" cy="5698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VIP-2 • hibrido_k2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7284" y="1307592"/>
            <a:ext cx="685800" cy="53327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1895734"/>
            <a:ext cx="2418588" cy="181672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PALCO</a:t>
            </a:r>
          </a:p>
          <a:p>
            <a:pPr>
              <a:spcAft>
                <a:spcPts val="100"/>
              </a:spcAft>
              <a:defRPr sz="800">
                <a:solidFill>
                  <a:srgbClr val="6C757D"/>
                </a:solidFill>
                <a:latin typeface="Montserrat"/>
              </a:defRPr>
            </a:pPr>
            <a:r>
              <a:t>Recinto: TEATRO JORGE ELIECER GAI...</a:t>
            </a:r>
          </a:p>
          <a:p>
            <a:pPr>
              <a:spcAft>
                <a:spcPts val="100"/>
              </a:spcAft>
              <a:defRPr sz="850" b="1">
                <a:solidFill>
                  <a:srgbClr val="134074"/>
                </a:solidFill>
                <a:latin typeface="Montserrat"/>
              </a:defRPr>
            </a:pPr>
            <a:r>
              <a:t>Precio: $80.000 COP</a:t>
            </a:r>
          </a:p>
          <a:p>
            <a:pPr>
              <a:spcAft>
                <a:spcPts val="100"/>
              </a:spcAft>
              <a:defRPr sz="800" b="1">
                <a:solidFill>
                  <a:srgbClr val="E76F51"/>
                </a:solidFill>
                <a:latin typeface="Montserrat"/>
              </a:defRPr>
            </a:pPr>
            <a:r>
              <a:t>• VIP-2 (hibrido_k2)</a:t>
            </a:r>
          </a:p>
          <a:p>
            <a:pPr>
              <a:defRPr sz="750" b="1">
                <a:solidFill>
                  <a:srgbClr val="F4A261"/>
                </a:solidFill>
                <a:latin typeface="Montserrat"/>
              </a:defRPr>
            </a:pPr>
            <a:r>
              <a:t>Conf: 47.7%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5108" y="1280160"/>
            <a:ext cx="2564892" cy="24505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5108" y="1280160"/>
            <a:ext cx="2564892" cy="58814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8260" y="1289304"/>
            <a:ext cx="2418588" cy="5698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PPF-0 • Platea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8260" y="1895734"/>
            <a:ext cx="2418588" cy="181672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PLATEA POSTERIOR</a:t>
            </a:r>
          </a:p>
          <a:p>
            <a:pPr>
              <a:spcAft>
                <a:spcPts val="100"/>
              </a:spcAft>
              <a:defRPr sz="800">
                <a:solidFill>
                  <a:srgbClr val="6C757D"/>
                </a:solidFill>
                <a:latin typeface="Montserrat"/>
              </a:defRPr>
            </a:pPr>
            <a:r>
              <a:t>Recinto: TEATRO JORGE ELIECER GAI...</a:t>
            </a:r>
          </a:p>
          <a:p>
            <a:pPr>
              <a:spcAft>
                <a:spcPts val="100"/>
              </a:spcAft>
              <a:defRPr sz="850" b="1">
                <a:solidFill>
                  <a:srgbClr val="134074"/>
                </a:solidFill>
                <a:latin typeface="Montserrat"/>
              </a:defRPr>
            </a:pPr>
            <a:r>
              <a:t>Precio: $152.000 COP</a:t>
            </a:r>
          </a:p>
          <a:p>
            <a:pPr>
              <a:spcAft>
                <a:spcPts val="100"/>
              </a:spcAft>
              <a:defRPr sz="800" b="1">
                <a:solidFill>
                  <a:srgbClr val="F4A261"/>
                </a:solidFill>
                <a:latin typeface="Montserrat"/>
              </a:defRPr>
            </a:pPr>
            <a:r>
              <a:t>• PPF-0 (Platea)</a:t>
            </a:r>
          </a:p>
          <a:p>
            <a:pPr>
              <a:defRPr sz="750" b="1">
                <a:solidFill>
                  <a:srgbClr val="F4A261"/>
                </a:solidFill>
                <a:latin typeface="Montserrat"/>
              </a:defRPr>
            </a:pPr>
            <a:r>
              <a:t>Conf: 45.1%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58768"/>
            <a:ext cx="2564892" cy="24505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858768"/>
            <a:ext cx="2564892" cy="58814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867912"/>
            <a:ext cx="2418588" cy="5698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PPF-1 • Platea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474342"/>
            <a:ext cx="2418588" cy="181672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PLATEA</a:t>
            </a:r>
          </a:p>
          <a:p>
            <a:pPr>
              <a:spcAft>
                <a:spcPts val="100"/>
              </a:spcAft>
              <a:defRPr sz="800">
                <a:solidFill>
                  <a:srgbClr val="6C757D"/>
                </a:solidFill>
                <a:latin typeface="Montserrat"/>
              </a:defRPr>
            </a:pPr>
            <a:r>
              <a:t>Recinto: TEATRO JORGE ARANGO TAMA...</a:t>
            </a:r>
          </a:p>
          <a:p>
            <a:pPr>
              <a:spcAft>
                <a:spcPts val="100"/>
              </a:spcAft>
              <a:defRPr sz="850" b="1">
                <a:solidFill>
                  <a:srgbClr val="134074"/>
                </a:solidFill>
                <a:latin typeface="Montserrat"/>
              </a:defRPr>
            </a:pPr>
            <a:r>
              <a:t>Precio: $125.000 COP</a:t>
            </a:r>
          </a:p>
          <a:p>
            <a:pPr>
              <a:spcAft>
                <a:spcPts val="100"/>
              </a:spcAft>
              <a:defRPr sz="800" b="1">
                <a:solidFill>
                  <a:srgbClr val="F4A261"/>
                </a:solidFill>
                <a:latin typeface="Montserrat"/>
              </a:defRPr>
            </a:pPr>
            <a:r>
              <a:t>• PPF-1 (Platea)</a:t>
            </a:r>
          </a:p>
          <a:p>
            <a:pPr>
              <a:defRPr sz="750" b="1">
                <a:solidFill>
                  <a:srgbClr val="F4A261"/>
                </a:solidFill>
                <a:latin typeface="Montserrat"/>
              </a:defRPr>
            </a:pPr>
            <a:r>
              <a:t>Conf: 49.0%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42716" y="3858768"/>
            <a:ext cx="2564892" cy="24505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42716" y="3858768"/>
            <a:ext cx="2564892" cy="58814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15868" y="3867912"/>
            <a:ext cx="2418588" cy="5698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PPF-2 • Platea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5868" y="4474342"/>
            <a:ext cx="2418588" cy="181672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PLATEA LATERAL</a:t>
            </a:r>
          </a:p>
          <a:p>
            <a:pPr>
              <a:spcAft>
                <a:spcPts val="100"/>
              </a:spcAft>
              <a:defRPr sz="800">
                <a:solidFill>
                  <a:srgbClr val="6C757D"/>
                </a:solidFill>
                <a:latin typeface="Montserrat"/>
              </a:defRPr>
            </a:pPr>
            <a:r>
              <a:t>Recinto: TEATRO JORGE ELIECER GAI...</a:t>
            </a:r>
          </a:p>
          <a:p>
            <a:pPr>
              <a:spcAft>
                <a:spcPts val="100"/>
              </a:spcAft>
              <a:defRPr sz="850" b="1">
                <a:solidFill>
                  <a:srgbClr val="134074"/>
                </a:solidFill>
                <a:latin typeface="Montserrat"/>
              </a:defRPr>
            </a:pPr>
            <a:r>
              <a:t>Precio: $176.000 COP</a:t>
            </a:r>
          </a:p>
          <a:p>
            <a:pPr>
              <a:spcAft>
                <a:spcPts val="100"/>
              </a:spcAft>
              <a:defRPr sz="800" b="1">
                <a:solidFill>
                  <a:srgbClr val="F4A261"/>
                </a:solidFill>
                <a:latin typeface="Montserrat"/>
              </a:defRPr>
            </a:pPr>
            <a:r>
              <a:t>• PPF-2 (Platea)</a:t>
            </a:r>
          </a:p>
          <a:p>
            <a:pPr>
              <a:defRPr sz="750" b="1">
                <a:solidFill>
                  <a:srgbClr val="009688"/>
                </a:solidFill>
                <a:latin typeface="Montserrat"/>
              </a:defRPr>
            </a:pPr>
            <a:r>
              <a:t>Conf: 69.7%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3858768"/>
            <a:ext cx="2564892" cy="24505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53912" y="3858768"/>
            <a:ext cx="2564892" cy="58814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3867912"/>
            <a:ext cx="2418588" cy="5698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PPF-2 • Platea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7064" y="4474342"/>
            <a:ext cx="2418588" cy="181672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PLATEA 3</a:t>
            </a:r>
          </a:p>
          <a:p>
            <a:pPr>
              <a:spcAft>
                <a:spcPts val="100"/>
              </a:spcAft>
              <a:defRPr sz="800">
                <a:solidFill>
                  <a:srgbClr val="6C757D"/>
                </a:solidFill>
                <a:latin typeface="Montserrat"/>
              </a:defRPr>
            </a:pPr>
            <a:r>
              <a:t>Recinto: TEATRO MAYOR JULIO MARIO...</a:t>
            </a:r>
          </a:p>
          <a:p>
            <a:pPr>
              <a:spcAft>
                <a:spcPts val="100"/>
              </a:spcAft>
              <a:defRPr sz="850" b="1">
                <a:solidFill>
                  <a:srgbClr val="134074"/>
                </a:solidFill>
                <a:latin typeface="Montserrat"/>
              </a:defRPr>
            </a:pPr>
            <a:r>
              <a:t>Precio: $200.000 COP</a:t>
            </a:r>
          </a:p>
          <a:p>
            <a:pPr>
              <a:spcAft>
                <a:spcPts val="100"/>
              </a:spcAft>
              <a:defRPr sz="800" b="1">
                <a:solidFill>
                  <a:srgbClr val="F4A261"/>
                </a:solidFill>
                <a:latin typeface="Montserrat"/>
              </a:defRPr>
            </a:pPr>
            <a:r>
              <a:t>• PPF-2 (Platea)</a:t>
            </a:r>
          </a:p>
          <a:p>
            <a:pPr>
              <a:defRPr sz="750" b="1">
                <a:solidFill>
                  <a:srgbClr val="009688"/>
                </a:solidFill>
                <a:latin typeface="Montserrat"/>
              </a:defRPr>
            </a:pPr>
            <a:r>
              <a:t>Conf: 66.9%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5108" y="3858768"/>
            <a:ext cx="256489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65108" y="3858768"/>
            <a:ext cx="2564892" cy="58814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38260" y="3867912"/>
            <a:ext cx="2418588" cy="5698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VIP-0 • hibrido_k0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98480" y="3886200"/>
            <a:ext cx="685800" cy="53327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8260" y="4474342"/>
            <a:ext cx="2418588" cy="181672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B2545"/>
                </a:solidFill>
                <a:latin typeface="Montserrat"/>
              </a:defRPr>
            </a:pPr>
            <a:r>
              <a:t>PALCO DE  SERGUNDA</a:t>
            </a:r>
          </a:p>
          <a:p>
            <a:pPr>
              <a:spcAft>
                <a:spcPts val="100"/>
              </a:spcAft>
              <a:defRPr sz="800">
                <a:solidFill>
                  <a:srgbClr val="6C757D"/>
                </a:solidFill>
                <a:latin typeface="Montserrat"/>
              </a:defRPr>
            </a:pPr>
            <a:r>
              <a:t>Recinto: TEATRO MUNICIPAL ENRIQUE...</a:t>
            </a:r>
          </a:p>
          <a:p>
            <a:pPr>
              <a:spcAft>
                <a:spcPts val="100"/>
              </a:spcAft>
              <a:defRPr sz="850" b="1">
                <a:solidFill>
                  <a:srgbClr val="134074"/>
                </a:solidFill>
                <a:latin typeface="Montserrat"/>
              </a:defRPr>
            </a:pPr>
            <a:r>
              <a:t>Precio: $174.000 COP</a:t>
            </a:r>
          </a:p>
          <a:p>
            <a:pPr>
              <a:spcAft>
                <a:spcPts val="100"/>
              </a:spcAft>
              <a:defRPr sz="800" b="1">
                <a:solidFill>
                  <a:srgbClr val="E76F51"/>
                </a:solidFill>
                <a:latin typeface="Montserrat"/>
              </a:defRPr>
            </a:pPr>
            <a:r>
              <a:t>• VIP-0 (hibrido_k0)</a:t>
            </a:r>
          </a:p>
          <a:p>
            <a:pPr>
              <a:defRPr sz="750" b="1">
                <a:solidFill>
                  <a:srgbClr val="F4A261"/>
                </a:solidFill>
                <a:latin typeface="Montserrat"/>
              </a:defRPr>
            </a:pPr>
            <a:r>
              <a:t>Conf: 40.2%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EVIDENCIA POR SEGMENTO: SEGMENTO MASIVOS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Granularidad Interna en Platea General, Popular y Grada Masiva (PGI, POP, GGM)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4892" cy="381853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89304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PGI-0 • hibrido_k0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4892" y="1307592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89445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LUNETA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TEATRO FUNDADORES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$100.000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134074"/>
                </a:solidFill>
                <a:latin typeface="Montserrat"/>
              </a:defRPr>
            </a:pPr>
            <a:r>
              <a:t>• PGI-0 (hibrido_k0)</a:t>
            </a:r>
          </a:p>
          <a:p>
            <a:pPr>
              <a:defRPr sz="700" b="1">
                <a:solidFill>
                  <a:srgbClr val="009688"/>
                </a:solidFill>
                <a:latin typeface="Montserrat"/>
              </a:defRPr>
            </a:pPr>
            <a:r>
              <a:t>Conf: 61.3%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2716" y="1280160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42716" y="1280160"/>
            <a:ext cx="2564892" cy="381853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5868" y="1289304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PGI-1 • hibrido_k1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76088" y="1307592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1689445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LUNETA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TEATRO FUNDADORES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$120.000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134074"/>
                </a:solidFill>
                <a:latin typeface="Montserrat"/>
              </a:defRPr>
            </a:pPr>
            <a:r>
              <a:t>• PGI-1 (hibrido_k1)</a:t>
            </a:r>
          </a:p>
          <a:p>
            <a:pPr>
              <a:defRPr sz="700" b="1">
                <a:solidFill>
                  <a:srgbClr val="009688"/>
                </a:solidFill>
                <a:latin typeface="Montserrat"/>
              </a:defRPr>
            </a:pPr>
            <a:r>
              <a:t>Conf: 61.6%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280160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280160"/>
            <a:ext cx="2564892" cy="381853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289304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PGI-2 • hibrido_k2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7284" y="1307592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1689445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PREMIER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TEATRO FUNDADORES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$90.000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134074"/>
                </a:solidFill>
                <a:latin typeface="Montserrat"/>
              </a:defRPr>
            </a:pPr>
            <a:r>
              <a:t>• PGI-2 (hibrido_k2)</a:t>
            </a:r>
          </a:p>
          <a:p>
            <a:pPr>
              <a:defRPr sz="700" b="1">
                <a:solidFill>
                  <a:srgbClr val="F4A261"/>
                </a:solidFill>
                <a:latin typeface="Montserrat"/>
              </a:defRPr>
            </a:pPr>
            <a:r>
              <a:t>Conf: 59.5%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5108" y="1280160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5108" y="1280160"/>
            <a:ext cx="2564892" cy="381853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8260" y="1289304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PGI-3 • hibrido_k3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98480" y="1307592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8260" y="1689445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PARAISO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TEATRO SANTANDER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$35.700 COP</a:t>
            </a:r>
          </a:p>
          <a:p>
            <a:pPr>
              <a:spcAft>
                <a:spcPts val="100"/>
              </a:spcAft>
              <a:defRPr sz="750" b="1">
                <a:solidFill>
                  <a:srgbClr val="134074"/>
                </a:solidFill>
                <a:latin typeface="Montserrat"/>
              </a:defRPr>
            </a:pPr>
            <a:r>
              <a:t>• PGI-3 (hibrido_k3)</a:t>
            </a:r>
          </a:p>
          <a:p>
            <a:pPr>
              <a:defRPr sz="700" b="1">
                <a:solidFill>
                  <a:srgbClr val="F4A261"/>
                </a:solidFill>
                <a:latin typeface="Montserrat"/>
              </a:defRPr>
            </a:pPr>
            <a:r>
              <a:t>Conf: 56.4%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999232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2999232"/>
            <a:ext cx="2564892" cy="38185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008376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POP-0 • hibrido_k0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4892" y="3026664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408517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PISO 4 407 - 413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DAVIARENA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$157.000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0B2545"/>
                </a:solidFill>
                <a:latin typeface="Montserrat"/>
              </a:defRPr>
            </a:pPr>
            <a:r>
              <a:t>• POP-0 (hibrido_k0)</a:t>
            </a:r>
          </a:p>
          <a:p>
            <a:pPr>
              <a:defRPr sz="700" b="1">
                <a:solidFill>
                  <a:srgbClr val="F4A261"/>
                </a:solidFill>
                <a:latin typeface="Montserrat"/>
              </a:defRPr>
            </a:pPr>
            <a:r>
              <a:t>Conf: 47.4%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2716" y="2999232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42716" y="2999232"/>
            <a:ext cx="2564892" cy="38185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5868" y="3008376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POP-1 • hibrido_k1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76088" y="3026664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5868" y="3408517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VISTA PARCIAL TERCER PISO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TEATRO MAYOR JULIO MARIO...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$26.800 COP</a:t>
            </a:r>
          </a:p>
          <a:p>
            <a:pPr>
              <a:spcAft>
                <a:spcPts val="100"/>
              </a:spcAft>
              <a:defRPr sz="750" b="1">
                <a:solidFill>
                  <a:srgbClr val="0B2545"/>
                </a:solidFill>
                <a:latin typeface="Montserrat"/>
              </a:defRPr>
            </a:pPr>
            <a:r>
              <a:t>• POP-1 (hibrido_k1)</a:t>
            </a:r>
          </a:p>
          <a:p>
            <a:pPr>
              <a:defRPr sz="700" b="1">
                <a:solidFill>
                  <a:srgbClr val="F4A261"/>
                </a:solidFill>
                <a:latin typeface="Montserrat"/>
              </a:defRPr>
            </a:pPr>
            <a:r>
              <a:t>Conf: 52.8%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3912" y="2999232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2999232"/>
            <a:ext cx="2564892" cy="38185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7064" y="3008376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POP-2 • hibrido_k2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87284" y="3026664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064" y="3408517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TERCER PISO 304-303/316-317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MOVISTAR ARENA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$240.000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0B2545"/>
                </a:solidFill>
                <a:latin typeface="Montserrat"/>
              </a:defRPr>
            </a:pPr>
            <a:r>
              <a:t>• POP-2 (hibrido_k2)</a:t>
            </a:r>
          </a:p>
          <a:p>
            <a:pPr>
              <a:defRPr sz="700" b="1">
                <a:solidFill>
                  <a:srgbClr val="F4A261"/>
                </a:solidFill>
                <a:latin typeface="Montserrat"/>
              </a:defRPr>
            </a:pPr>
            <a:r>
              <a:t>Conf: 47.9%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5108" y="2999232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865108" y="2999232"/>
            <a:ext cx="2564892" cy="38185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38260" y="3008376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POP-3 • hibrido_k3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98480" y="3026664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38260" y="3408517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EXPERIENCIA GOLDEN TICKET ...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DAVIARENA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$200.000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0B2545"/>
                </a:solidFill>
                <a:latin typeface="Montserrat"/>
              </a:defRPr>
            </a:pPr>
            <a:r>
              <a:t>• POP-3 (hibrido_k3)</a:t>
            </a:r>
          </a:p>
          <a:p>
            <a:pPr>
              <a:defRPr sz="700" b="1">
                <a:solidFill>
                  <a:srgbClr val="E76F51"/>
                </a:solidFill>
                <a:latin typeface="Montserrat"/>
              </a:defRPr>
            </a:pPr>
            <a:r>
              <a:t>Conf: 18.3%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718304"/>
            <a:ext cx="2564892" cy="1591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4718304"/>
            <a:ext cx="2564892" cy="381853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4727448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GGM-0 • General Tiquete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" y="5127589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GENERAL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PARQUE  DE LAS  LUCES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$157.000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6C757D"/>
                </a:solidFill>
                <a:latin typeface="Montserrat"/>
              </a:defRPr>
            </a:pPr>
            <a:r>
              <a:t>• GGM-0 (General Tiquete)</a:t>
            </a:r>
          </a:p>
          <a:p>
            <a:pPr>
              <a:defRPr sz="700" b="1">
                <a:solidFill>
                  <a:srgbClr val="009688"/>
                </a:solidFill>
                <a:latin typeface="Montserrat"/>
              </a:defRPr>
            </a:pPr>
            <a:r>
              <a:t>Conf: 67.2%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2716" y="4718304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442716" y="4718304"/>
            <a:ext cx="2564892" cy="381853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15868" y="4727448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GGM-1 • hibrido_k1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76088" y="4745736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5868" y="5127589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PLATEA PRIMER PISO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SALON JUMBO COUNTRY CLUB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$155.000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6C757D"/>
                </a:solidFill>
                <a:latin typeface="Montserrat"/>
              </a:defRPr>
            </a:pPr>
            <a:r>
              <a:t>• GGM-1 (hibrido_k1)</a:t>
            </a:r>
          </a:p>
          <a:p>
            <a:pPr>
              <a:defRPr sz="700" b="1">
                <a:solidFill>
                  <a:srgbClr val="F4A261"/>
                </a:solidFill>
                <a:latin typeface="Montserrat"/>
              </a:defRPr>
            </a:pPr>
            <a:r>
              <a:t>Conf: 51.2%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53912" y="4718304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53912" y="4718304"/>
            <a:ext cx="2564892" cy="381853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27064" y="4727448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GGM-2 • hibrido_k2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87284" y="4745736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27064" y="5127589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EARLY GENERAL A ANYTIME GE...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SKYCENTER CENTRO DE EVEN...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$70.000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6C757D"/>
                </a:solidFill>
                <a:latin typeface="Montserrat"/>
              </a:defRPr>
            </a:pPr>
            <a:r>
              <a:t>• GGM-2 (hibrido_k2)</a:t>
            </a:r>
          </a:p>
          <a:p>
            <a:pPr>
              <a:defRPr sz="700" b="1">
                <a:solidFill>
                  <a:srgbClr val="F4A261"/>
                </a:solidFill>
                <a:latin typeface="Montserrat"/>
              </a:defRPr>
            </a:pPr>
            <a:r>
              <a:t>Conf: 59.9%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65108" y="4718304"/>
            <a:ext cx="2564892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865108" y="4718304"/>
            <a:ext cx="2564892" cy="381853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38260" y="4727448"/>
            <a:ext cx="2418588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POP-2 • hibrido_k2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98480" y="4745736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38260" y="5127589"/>
            <a:ext cx="2418588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TERCER PISO 305 -306/314-315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MOVISTAR ARENA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$270.000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0B2545"/>
                </a:solidFill>
                <a:latin typeface="Montserrat"/>
              </a:defRPr>
            </a:pPr>
            <a:r>
              <a:t>• POP-2 (hibrido_k2)</a:t>
            </a:r>
          </a:p>
          <a:p>
            <a:pPr>
              <a:defRPr sz="700" b="1">
                <a:solidFill>
                  <a:srgbClr val="F4A261"/>
                </a:solidFill>
                <a:latin typeface="Montserrat"/>
              </a:defRPr>
            </a:pPr>
            <a:r>
              <a:t>Conf: 43.2%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CASOS ESPECIALES: CALIDAD MATEMÁTICA Y FRONTERAS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Admisión Única Determinística, Banderas de Frontera y Clusters Léxicos Híbridos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10128" cy="1591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10128" cy="381853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89304"/>
            <a:ext cx="316382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AU-0 • Admisión Única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89445"/>
            <a:ext cx="316382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MEET &amp; GREET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MOVISTAR ARENA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$148.000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009688"/>
                </a:solidFill>
                <a:latin typeface="Montserrat"/>
              </a:defRPr>
            </a:pPr>
            <a:r>
              <a:t>• AU-0 (Admisión Única)</a:t>
            </a:r>
          </a:p>
          <a:p>
            <a:pPr>
              <a:defRPr sz="700" b="1">
                <a:solidFill>
                  <a:srgbClr val="009688"/>
                </a:solidFill>
                <a:latin typeface="Montserrat"/>
              </a:defRPr>
            </a:pPr>
            <a:r>
              <a:t>Conf: 100.0%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87952" y="1280160"/>
            <a:ext cx="3310128" cy="1591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87952" y="1280160"/>
            <a:ext cx="3310128" cy="381853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289304"/>
            <a:ext cx="316382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AU-0 • Admisión Única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1689445"/>
            <a:ext cx="316382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GALERÍA INESPERADA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MOVISTAR ARENA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$320.700 COP</a:t>
            </a:r>
          </a:p>
          <a:p>
            <a:pPr>
              <a:spcAft>
                <a:spcPts val="100"/>
              </a:spcAft>
              <a:defRPr sz="750" b="1">
                <a:solidFill>
                  <a:srgbClr val="009688"/>
                </a:solidFill>
                <a:latin typeface="Montserrat"/>
              </a:defRPr>
            </a:pPr>
            <a:r>
              <a:t>• AU-0 (Admisión Única)</a:t>
            </a:r>
          </a:p>
          <a:p>
            <a:pPr>
              <a:defRPr sz="700" b="1">
                <a:solidFill>
                  <a:srgbClr val="009688"/>
                </a:solidFill>
                <a:latin typeface="Montserrat"/>
              </a:defRPr>
            </a:pPr>
            <a:r>
              <a:t>Conf: 100.0%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99232"/>
            <a:ext cx="3310128" cy="15910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99232"/>
            <a:ext cx="3310128" cy="381853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08376"/>
            <a:ext cx="316382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PGI-0 • hibrido_k0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3026664"/>
            <a:ext cx="731520" cy="326989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FRONTERA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408517"/>
            <a:ext cx="316382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PLATEA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TEATRO EL ENSUEO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$15.000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134074"/>
                </a:solidFill>
                <a:latin typeface="Montserrat"/>
              </a:defRPr>
            </a:pPr>
            <a:r>
              <a:t>• PGI-0 (hibrido_k0)</a:t>
            </a:r>
          </a:p>
          <a:p>
            <a:pPr>
              <a:defRPr sz="700" b="1">
                <a:solidFill>
                  <a:srgbClr val="E76F51"/>
                </a:solidFill>
                <a:latin typeface="Montserrat"/>
              </a:defRPr>
            </a:pPr>
            <a:r>
              <a:t>Conf: 0.2%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7952" y="2999232"/>
            <a:ext cx="3310128" cy="15910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87952" y="2999232"/>
            <a:ext cx="3310128" cy="381853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1104" y="3008376"/>
            <a:ext cx="316382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PGI-2 • hibrido_k2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3026664"/>
            <a:ext cx="731520" cy="326989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FRONTERA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3408517"/>
            <a:ext cx="316382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PLATEA POSTERIOR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CENTRO DE EVENTOS ANDINO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$90.000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134074"/>
                </a:solidFill>
                <a:latin typeface="Montserrat"/>
              </a:defRPr>
            </a:pPr>
            <a:r>
              <a:t>• PGI-2 (hibrido_k2)</a:t>
            </a:r>
          </a:p>
          <a:p>
            <a:pPr>
              <a:defRPr sz="700" b="1">
                <a:solidFill>
                  <a:srgbClr val="E76F51"/>
                </a:solidFill>
                <a:latin typeface="Montserrat"/>
              </a:defRPr>
            </a:pPr>
            <a:r>
              <a:t>Conf: 0.3%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18304"/>
            <a:ext cx="3310128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718304"/>
            <a:ext cx="3310128" cy="381853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727448"/>
            <a:ext cx="3163824" cy="3635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Montserrat"/>
              </a:defRPr>
            </a:pPr>
            <a:r>
              <a:t>PGI-1 • hibrido_k1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4745736"/>
            <a:ext cx="685800" cy="32698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>
              <a:defRPr sz="650" b="1">
                <a:solidFill>
                  <a:srgbClr val="FFFFFF"/>
                </a:solidFill>
                <a:latin typeface="Montserrat"/>
              </a:defRPr>
            </a:pPr>
            <a:r>
              <a:t>HÍBRIDO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127589"/>
            <a:ext cx="3163824" cy="116348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B2545"/>
                </a:solidFill>
                <a:latin typeface="Montserrat"/>
              </a:defRPr>
            </a:pPr>
            <a:r>
              <a:t>LUNETA</a:t>
            </a:r>
          </a:p>
          <a:p>
            <a:pPr>
              <a:spcAft>
                <a:spcPts val="100"/>
              </a:spcAft>
              <a:defRPr sz="750">
                <a:solidFill>
                  <a:srgbClr val="6C757D"/>
                </a:solidFill>
                <a:latin typeface="Montserrat"/>
              </a:defRPr>
            </a:pPr>
            <a:r>
              <a:t>Recinto: TEATRO FUNDADORES</a:t>
            </a:r>
          </a:p>
          <a:p>
            <a:pPr>
              <a:spcAft>
                <a:spcPts val="100"/>
              </a:spcAft>
              <a:defRPr sz="800" b="1">
                <a:solidFill>
                  <a:srgbClr val="134074"/>
                </a:solidFill>
                <a:latin typeface="Montserrat"/>
              </a:defRPr>
            </a:pPr>
            <a:r>
              <a:t>Precio: $120.000 COP</a:t>
            </a:r>
          </a:p>
          <a:p>
            <a:pPr>
              <a:spcAft>
                <a:spcPts val="100"/>
              </a:spcAft>
              <a:defRPr sz="750" b="1">
                <a:solidFill>
                  <a:srgbClr val="134074"/>
                </a:solidFill>
                <a:latin typeface="Montserrat"/>
              </a:defRPr>
            </a:pPr>
            <a:r>
              <a:t>• PGI-1 (hibrido_k1)</a:t>
            </a:r>
          </a:p>
          <a:p>
            <a:pPr>
              <a:defRPr sz="700" b="1">
                <a:solidFill>
                  <a:srgbClr val="009688"/>
                </a:solidFill>
                <a:latin typeface="Montserrat"/>
              </a:defRPr>
            </a:pPr>
            <a:r>
              <a:t>Conf: 61.6%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280160"/>
            <a:ext cx="3657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141732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34074"/>
                </a:solidFill>
                <a:latin typeface="Montserrat"/>
              </a:defRPr>
            </a:pPr>
            <a:r>
              <a:t>AU-0: Admisión Única (100% Confianza)</a:t>
            </a:r>
          </a:p>
          <a:p>
            <a:pPr>
              <a:spcAft>
                <a:spcPts val="8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Eventos mono-zona o boletos de acceso irrestricto (Meet &amp; Greet, Galerías). Pasa por nodo determinístico.</a:t>
            </a:r>
          </a:p>
          <a:p>
            <a:pPr>
              <a:spcAft>
                <a:spcPts val="200"/>
              </a:spcAft>
              <a:defRPr sz="1100" b="1">
                <a:solidFill>
                  <a:srgbClr val="E76F51"/>
                </a:solidFill>
                <a:latin typeface="Montserrat"/>
              </a:defRPr>
            </a:pPr>
            <a:r>
              <a:t>Fronteras Estadísticas (Borde Punteado)</a:t>
            </a:r>
          </a:p>
          <a:p>
            <a:pPr>
              <a:spcAft>
                <a:spcPts val="8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Confianzas &lt; 0.50 entre zonas difusas (ej. Platea en Teatro El Ensueño con 0.16%). Activa segmento_incierto=True.</a:t>
            </a:r>
          </a:p>
          <a:p>
            <a:pPr>
              <a:spcAft>
                <a:spcPts val="200"/>
              </a:spcAft>
              <a:defRPr sz="1100" b="1">
                <a:solidFill>
                  <a:srgbClr val="134074"/>
                </a:solidFill>
                <a:latin typeface="Montserrat"/>
              </a:defRPr>
            </a:pPr>
            <a:r>
              <a:t>Clusters Híbridos (Badge HÍBRIDO)</a:t>
            </a:r>
          </a:p>
          <a:p>
            <a:pPr>
              <a:spcAft>
                <a:spcPts val="8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Nomenclaturas combinadas (Luneta + Balcón) agrupadas por K-Means sin violar el arquetipo macro.</a:t>
            </a:r>
          </a:p>
          <a:p>
            <a:pPr>
              <a:spcAft>
                <a:spcPts val="200"/>
              </a:spcAft>
              <a:defRPr sz="1100" b="1">
                <a:solidFill>
                  <a:srgbClr val="134074"/>
                </a:solidFill>
                <a:latin typeface="Montserrat"/>
              </a:defRPr>
            </a:pPr>
            <a:r>
              <a:t>Regla 8: Exclusiones Interceptadas</a:t>
            </a:r>
          </a:p>
          <a:p>
            <a:pPr>
              <a:spcAft>
                <a:spcPts val="8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13,020 parqueaderos y 205 localidades activas no comerciales excluidas ex-ante por el contrato Python.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DISTRIBUCIÓN DE LAS 1,324 ASIGNACIONES EN MARCHA BLANCA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¿Dónde Cayeron las 1,324?: Frecuencia por Micro-Cluster y Diagnóstico Honesto de Sesgo Muestral</a:t>
            </a:r>
          </a:p>
        </p:txBody>
      </p:sp>
      <p:pic>
        <p:nvPicPr>
          <p:cNvPr id="4" name="Picture 3" descr="fig_frecuencia_micro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8016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ANEXO VERIFICABLE DE MARCHA BLANCA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Acceso Completo a las 1,324 Asignaciones: Excel Ejecutivo y Repositorio Versionado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64008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Montserrat"/>
              </a:defRPr>
            </a:pPr>
            <a:r>
              <a:t>LIBRO DE EXCEL EJECUTIVO (AUDITORÍA INMEDIATA)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B2545"/>
                </a:solidFill>
                <a:latin typeface="Montserrat"/>
              </a:defRPr>
            </a:pPr>
            <a:r>
              <a:t>reports/anexo_asignaciones_marcha_blanca.xlsx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Volumen Total: </a:t>
            </a:r>
            <a:r>
              <a:rPr b="0">
                <a:solidFill>
                  <a:srgbClr val="212529"/>
                </a:solidFill>
              </a:rPr>
              <a:t>1,324 filas de localidades limpias certificadas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Hoja Única: </a:t>
            </a:r>
            <a:r>
              <a:rPr b="0">
                <a:solidFill>
                  <a:srgbClr val="212529"/>
                </a:solidFill>
              </a:rPr>
              <a:t>'Asignaciones_Marcha_Blanca' con autofiltro nativo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Usabilidad: </a:t>
            </a:r>
            <a:r>
              <a:rPr b="0">
                <a:solidFill>
                  <a:srgbClr val="212529"/>
                </a:solidFill>
              </a:rPr>
              <a:t>Fila de encabezado congelada para navegación fluida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Formato Porcentual: </a:t>
            </a:r>
            <a:r>
              <a:rPr b="0">
                <a:solidFill>
                  <a:srgbClr val="212529"/>
                </a:solidFill>
              </a:rPr>
              <a:t>score_confianza formateado como porcentaje (0.0%)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Formato Moneda: </a:t>
            </a:r>
            <a:r>
              <a:rPr b="0">
                <a:solidFill>
                  <a:srgbClr val="212529"/>
                </a:solidFill>
              </a:rPr>
              <a:t>precio con separador de miles en pesos colombianos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Columnas Clave: </a:t>
            </a:r>
            <a:r>
              <a:rPr b="0">
                <a:solidFill>
                  <a:srgbClr val="212529"/>
                </a:solidFill>
              </a:rPr>
              <a:t>localidad, recinto, precio, type_site, micro_cluster_id, label_auto, arquetipo_demanda, score_confianza, es_frontera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640080"/>
          </a:xfrm>
          <a:prstGeom prst="roundRect">
            <a:avLst/>
          </a:prstGeom>
          <a:solidFill>
            <a:srgbClr val="134074"/>
          </a:solidFill>
          <a:ln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Montserrat"/>
              </a:defRPr>
            </a:pPr>
            <a:r>
              <a:t>ARTEFACTOS DE CÓDIGO Y DATOS EN REPOSITORIO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B2545"/>
                </a:solidFill>
                <a:latin typeface="Montserrat"/>
              </a:defRPr>
            </a:pPr>
            <a:r>
              <a:t>c:/dev/clusterizacion-localidades/ (Git Versionado)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CSV Completo: </a:t>
            </a:r>
            <a:r>
              <a:rPr b="0">
                <a:solidFill>
                  <a:srgbClr val="212529"/>
                </a:solidFill>
              </a:rPr>
              <a:t>data/processed/asignacion_microclusters.csv (1,324 filas)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CSV Galería: </a:t>
            </a:r>
            <a:r>
              <a:rPr b="0">
                <a:solidFill>
                  <a:srgbClr val="212529"/>
                </a:solidFill>
              </a:rPr>
              <a:t>reports/ejemplos_galeria_extendida.csv (25 filas estratificadas)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Eventos Seleccionados: </a:t>
            </a:r>
            <a:r>
              <a:rPr b="0">
                <a:solidFill>
                  <a:srgbClr val="212529"/>
                </a:solidFill>
              </a:rPr>
              <a:t>reports/eventos_seleccionados.csv (5 quintiles certificados)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Catálogo v3.0: </a:t>
            </a:r>
            <a:r>
              <a:rPr b="0">
                <a:solidFill>
                  <a:srgbClr val="212529"/>
                </a:solidFill>
              </a:rPr>
              <a:t>data/processed/cluster_catalog_v3.csv (18 micro-clusters)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Auditoría Data Eng: </a:t>
            </a:r>
            <a:r>
              <a:rPr b="0">
                <a:solidFill>
                  <a:srgbClr val="212529"/>
                </a:solidFill>
              </a:rPr>
              <a:t>reports/hallazgos_blob_test_gold_20261007.md</a:t>
            </a:r>
          </a:p>
          <a:p>
            <a:pPr>
              <a:spcAft>
                <a:spcPts val="400"/>
              </a:spcAft>
              <a:defRPr sz="950" b="1">
                <a:solidFill>
                  <a:srgbClr val="134074"/>
                </a:solidFill>
                <a:latin typeface="Montserrat"/>
              </a:defRPr>
            </a:pPr>
            <a:r>
              <a:t>• Reproducibilidad: </a:t>
            </a:r>
            <a:r>
              <a:rPr b="0">
                <a:solidFill>
                  <a:srgbClr val="212529"/>
                </a:solidFill>
              </a:rPr>
              <a:t>Pipeline determinístico; scripts de generación automatizados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MÉTRICAS DE CALIDAD Y CONFIABILIDAD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Evaluación Cuantitativa de la Marcha Blanca y Estabilidad Estadística Documentada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82880" cy="228600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09688"/>
                </a:solidFill>
                <a:latin typeface="Montserrat"/>
              </a:defRPr>
            </a:pPr>
            <a:r>
              <a:t>0.6314 (63.14%)</a:t>
            </a:r>
          </a:p>
          <a:p>
            <a:pPr>
              <a:spcAft>
                <a:spcPts val="600"/>
              </a:spcAft>
              <a:defRPr sz="1100" b="1">
                <a:solidFill>
                  <a:srgbClr val="0B2545"/>
                </a:solidFill>
                <a:latin typeface="Montserrat"/>
              </a:defRPr>
            </a:pPr>
            <a:r>
              <a:t>SCORE DE CONFIANZA GEOMÉTRICO MEDIO</a:t>
            </a:r>
          </a:p>
          <a:p>
            <a:pPr>
              <a:defRPr sz="1000">
                <a:solidFill>
                  <a:srgbClr val="212529"/>
                </a:solidFill>
                <a:latin typeface="Montserrat"/>
              </a:defRPr>
            </a:pPr>
            <a:r>
              <a:t>Supera ampliamente el umbral operacional mínimo de 0.50. Alta certidumbre en asignación de centroides.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182880" cy="2286000"/>
          </a:xfrm>
          <a:prstGeom prst="roundRect">
            <a:avLst/>
          </a:prstGeom>
          <a:solidFill>
            <a:srgbClr val="134074"/>
          </a:solidFill>
          <a:ln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134074"/>
                </a:solidFill>
                <a:latin typeface="Montserrat"/>
              </a:defRPr>
            </a:pPr>
            <a:r>
              <a:t>14.27%</a:t>
            </a:r>
          </a:p>
          <a:p>
            <a:pPr>
              <a:spcAft>
                <a:spcPts val="600"/>
              </a:spcAft>
              <a:defRPr sz="1100" b="1">
                <a:solidFill>
                  <a:srgbClr val="0B2545"/>
                </a:solidFill>
                <a:latin typeface="Montserrat"/>
              </a:defRPr>
            </a:pPr>
            <a:r>
              <a:t>TASA DE LOCALIDADES EN FRONTERA</a:t>
            </a:r>
          </a:p>
          <a:p>
            <a:pPr>
              <a:defRPr sz="1000">
                <a:solidFill>
                  <a:srgbClr val="212529"/>
                </a:solidFill>
                <a:latin typeface="Montserrat"/>
              </a:defRPr>
            </a:pPr>
            <a:r>
              <a:t>Dentro del margen seguro previsto (&lt; 20.0%). El 85.73% restante de las localidades se ubica con certidumbre nítida.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82880" cy="2286000"/>
          </a:xfrm>
          <a:prstGeom prst="round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B2545"/>
                </a:solidFill>
                <a:latin typeface="Montserrat"/>
              </a:defRPr>
            </a:pPr>
            <a:r>
              <a:t>0.00%</a:t>
            </a:r>
          </a:p>
          <a:p>
            <a:pPr>
              <a:spcAft>
                <a:spcPts val="600"/>
              </a:spcAft>
              <a:defRPr sz="1100" b="1">
                <a:solidFill>
                  <a:srgbClr val="0B2545"/>
                </a:solidFill>
                <a:latin typeface="Montserrat"/>
              </a:defRPr>
            </a:pPr>
            <a:r>
              <a:t>TASA DE TEXTO VACÍO POST-FILTRO</a:t>
            </a:r>
          </a:p>
          <a:p>
            <a:pPr>
              <a:defRPr sz="1000">
                <a:solidFill>
                  <a:srgbClr val="212529"/>
                </a:solidFill>
                <a:latin typeface="Montserrat"/>
              </a:defRPr>
            </a:pPr>
            <a:r>
              <a:t>100% de cobertura de nombres semánticos. Cero localidades en blanco procesadas por el modelo.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182880" cy="228600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E76F51"/>
                </a:solidFill>
                <a:latin typeface="Montserrat"/>
              </a:defRPr>
            </a:pPr>
            <a:r>
              <a:t>&gt; 0.88</a:t>
            </a:r>
          </a:p>
          <a:p>
            <a:pPr>
              <a:spcAft>
                <a:spcPts val="600"/>
              </a:spcAft>
              <a:defRPr sz="1100" b="1">
                <a:solidFill>
                  <a:srgbClr val="0B2545"/>
                </a:solidFill>
                <a:latin typeface="Montserrat"/>
              </a:defRPr>
            </a:pPr>
            <a:r>
              <a:t>ESTABILIDAD BOOTSTRAP-ARI PROMEDIO</a:t>
            </a:r>
          </a:p>
          <a:p>
            <a:pPr>
              <a:defRPr sz="1000">
                <a:solidFill>
                  <a:srgbClr val="212529"/>
                </a:solidFill>
                <a:latin typeface="Montserrat"/>
              </a:defRPr>
            </a:pPr>
            <a:r>
              <a:t>Compuerta de reproducibilidad superada en réplicas al 80% (Popular: 0.985, Platea: 0.979, VIP: 0.934).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LÍMITES HONESTOS DEL LOTE Y GOBERNANZA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Validación Funcional Exitosa (N=1,324), Diagnóstico de Capa GOLD y Criterios de Aceptación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0B2545"/>
                </a:solidFill>
                <a:latin typeface="Montserrat"/>
              </a:defRPr>
            </a:pPr>
            <a:r>
              <a:t>VALIDACIÓN FUNCIONAL EXITOSA (NO ESTADÍSTICA)</a:t>
            </a:r>
          </a:p>
          <a:p>
            <a:pPr>
              <a:spcAft>
                <a:spcPts val="200"/>
              </a:spcAft>
              <a:defRPr sz="1000" b="1">
                <a:solidFill>
                  <a:srgbClr val="134074"/>
                </a:solidFill>
                <a:latin typeface="Montserrat"/>
              </a:defRPr>
            </a:pPr>
            <a:r>
              <a:t>• 706,443 Filas Crudas Ingeridas: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El lote probó de punta a punta la robustez del código, descarga de Azure e inferencia defensiva.</a:t>
            </a:r>
          </a:p>
          <a:p>
            <a:pPr>
              <a:spcAft>
                <a:spcPts val="200"/>
              </a:spcAft>
              <a:defRPr sz="1000" b="1">
                <a:solidFill>
                  <a:srgbClr val="134074"/>
                </a:solidFill>
                <a:latin typeface="Montserrat"/>
              </a:defRPr>
            </a:pPr>
            <a:r>
              <a:t>• 1,324 Localidades Limpias Finales (99.81% Descarte):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El volumen residual certificado es seguro para inferencia pero insuficiente para certificar drift poblacional (PSI) representativo.</a:t>
            </a:r>
          </a:p>
          <a:p>
            <a:pPr>
              <a:spcAft>
                <a:spcPts val="200"/>
              </a:spcAft>
              <a:defRPr sz="1000" b="1">
                <a:solidFill>
                  <a:srgbClr val="134074"/>
                </a:solidFill>
                <a:latin typeface="Montserrat"/>
              </a:defRPr>
            </a:pPr>
            <a:r>
              <a:t>• Causa de Descarte Masivo: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636k duplicados exactos (90.1%) y 706k filas (99.9%) en eventos con suma de cuotas rota por muestreo parcial.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0B2545"/>
                </a:solidFill>
                <a:latin typeface="Montserrat"/>
              </a:defRPr>
            </a:pPr>
            <a:r>
              <a:t>LOS 5 CRITERIOS DE ACEPTACIÓN PARA EL NUEVO BLOB</a:t>
            </a:r>
          </a:p>
          <a:p>
            <a:pPr>
              <a:spcAft>
                <a:spcPts val="200"/>
              </a:spcAft>
              <a:defRPr sz="1000" b="1">
                <a:solidFill>
                  <a:srgbClr val="134074"/>
                </a:solidFill>
                <a:latin typeface="Montserrat"/>
              </a:defRPr>
            </a:pPr>
            <a:r>
              <a:t>• Check A (Duplicados en Crudo):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Tasa de duplicidad estricta &lt; 1.0%.</a:t>
            </a:r>
          </a:p>
          <a:p>
            <a:pPr>
              <a:spcAft>
                <a:spcPts val="200"/>
              </a:spcAft>
              <a:defRPr sz="1000" b="1">
                <a:solidFill>
                  <a:srgbClr val="134074"/>
                </a:solidFill>
                <a:latin typeface="Montserrat"/>
              </a:defRPr>
            </a:pPr>
            <a:r>
              <a:t>• Check B (Supervivencia de Filtro):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Tasa de retención consistente &gt; 90.0%.</a:t>
            </a:r>
          </a:p>
          <a:p>
            <a:pPr>
              <a:spcAft>
                <a:spcPts val="200"/>
              </a:spcAft>
              <a:defRPr sz="1000" b="1">
                <a:solidFill>
                  <a:srgbClr val="134074"/>
                </a:solidFill>
                <a:latin typeface="Montserrat"/>
              </a:defRPr>
            </a:pPr>
            <a:r>
              <a:t>• Check C (Coherencia de Aforos):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0 eventos con discrepancias físicas en la suma de cuotas.</a:t>
            </a:r>
          </a:p>
          <a:p>
            <a:pPr>
              <a:spcAft>
                <a:spcPts val="200"/>
              </a:spcAft>
              <a:defRPr sz="1000" b="1">
                <a:solidFill>
                  <a:srgbClr val="134074"/>
                </a:solidFill>
                <a:latin typeface="Montserrat"/>
              </a:defRPr>
            </a:pPr>
            <a:r>
              <a:t>• Check D (Volumetría):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Tamaño comparable al histórico (|Delta| &lt; 20% vs 33,775).</a:t>
            </a:r>
          </a:p>
          <a:p>
            <a:pPr>
              <a:spcAft>
                <a:spcPts val="200"/>
              </a:spcAft>
              <a:defRPr sz="1000" b="1">
                <a:solidFill>
                  <a:srgbClr val="134074"/>
                </a:solidFill>
                <a:latin typeface="Montserrat"/>
              </a:defRPr>
            </a:pPr>
            <a:r>
              <a:t>• Check E (Patrones no Comerciales):</a:t>
            </a:r>
          </a:p>
          <a:p>
            <a:pPr>
              <a:spcAft>
                <a:spcPts val="600"/>
              </a:spcAft>
              <a:defRPr sz="950">
                <a:solidFill>
                  <a:srgbClr val="212529"/>
                </a:solidFill>
                <a:latin typeface="Montserrat"/>
              </a:defRPr>
            </a:pPr>
            <a:r>
              <a:t>  0 filas con TEST, CANCELAD, PARQUEA o sobreventas.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73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HOJA DE RUTA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2545"/>
                </a:solidFill>
                <a:latin typeface="Montserrat"/>
              </a:defRPr>
            </a:pPr>
            <a:r>
              <a:t>Ruta Crítica hacia Producción Plena: Del Nuevo Blob GOLD al Feature Store Comercial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34074"/>
                </a:solidFill>
                <a:latin typeface="Montserrat"/>
              </a:defRPr>
            </a:pPr>
            <a:r>
              <a:t>1. Publicación del Nuevo Blob GOLD Regenerado</a:t>
            </a:r>
          </a:p>
          <a:p>
            <a:pPr>
              <a:defRPr sz="1050">
                <a:solidFill>
                  <a:srgbClr val="212529"/>
                </a:solidFill>
                <a:latin typeface="Montserrat"/>
              </a:defRPr>
            </a:pPr>
            <a:r>
              <a:t>Entrega coordinada con Data Engineering bajo los 5 criterios de calidad acordados (deduplicación en origen y funciones completas).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34074"/>
                </a:solidFill>
                <a:latin typeface="Montserrat"/>
              </a:defRPr>
            </a:pPr>
            <a:r>
              <a:t>2. Certificación Estadística Automatizada</a:t>
            </a:r>
          </a:p>
          <a:p>
            <a:pPr>
              <a:defRPr sz="1050">
                <a:solidFill>
                  <a:srgbClr val="212529"/>
                </a:solidFill>
                <a:latin typeface="Montserrat"/>
              </a:defRPr>
            </a:pPr>
            <a:r>
              <a:t>Ejecución de scripts/ejecutar_evaluacion_marcha_blanca.py sobre el nuevo extracto para validar PSI de drift poblacional (&lt; 0.10).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34074"/>
                </a:solidFill>
                <a:latin typeface="Montserrat"/>
              </a:defRPr>
            </a:pPr>
            <a:r>
              <a:t>3. Política Comercial para Precios en $0 COP (v2.6)</a:t>
            </a:r>
          </a:p>
          <a:p>
            <a:pPr>
              <a:defRPr sz="1050">
                <a:solidFill>
                  <a:srgbClr val="212529"/>
                </a:solidFill>
                <a:latin typeface="Montserrat"/>
              </a:defRPr>
            </a:pPr>
            <a:r>
              <a:t>Acuerdo formal con Producto sobre localidades de cortesía/prensa para alinear el re-entrenamiento histórico al filtro estricto.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6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34074"/>
                </a:solidFill>
                <a:latin typeface="Montserrat"/>
              </a:defRPr>
            </a:pPr>
            <a:r>
              <a:t>4. Exposición en Feature Store para Modelos Downstream</a:t>
            </a:r>
          </a:p>
          <a:p>
            <a:pPr>
              <a:defRPr sz="1050">
                <a:solidFill>
                  <a:srgbClr val="212529"/>
                </a:solidFill>
                <a:latin typeface="Montserrat"/>
              </a:defRPr>
            </a:pPr>
            <a:r>
              <a:t>Consumo de micro_cluster_id y arquetipo_demanda en motores de propensión, pricing dinámico y elasticidad de taquilla.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46538</TotalTime>
  <Words>6</Words>
  <Application>Microsoft Macintosh PowerPoint</Application>
  <PresentationFormat>Panorámica</PresentationFormat>
  <Paragraphs>5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Montserrat</vt:lpstr>
      <vt:lpstr>Tema de Office</vt:lpstr>
      <vt:lpstr>Titulo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Hot Seat</dc:title>
  <dc:creator>Nicolas Paz</dc:creator>
  <cp:lastModifiedBy>Valentina Londoño Ramirez</cp:lastModifiedBy>
  <cp:revision>40</cp:revision>
  <dcterms:created xsi:type="dcterms:W3CDTF">2025-02-26T14:42:43Z</dcterms:created>
  <dcterms:modified xsi:type="dcterms:W3CDTF">2026-08-29T20:57:57Z</dcterms:modified>
</cp:coreProperties>
</file>